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6213D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16213D"/>
                </a:solidFill>
                <a:latin typeface="Calibri"/>
              </a:rPr>
              <a:t>Revenue by Gender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1B2A55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1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Male</c:v>
                  </c:pt>
                  <c:pt idx="1">
                    <c:v>Female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157890</c:v>
                </c:pt>
                <c:pt idx="1">
                  <c:v>75191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1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07B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6213D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16213D"/>
                </a:solidFill>
                <a:latin typeface="Calibri"/>
              </a:rPr>
              <a:t>Revenue by Age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B9832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1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 Age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621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07B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1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6213D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16213D"/>
                </a:solidFill>
                <a:latin typeface="Calibri"/>
              </a:rPr>
              <a:t>Revenue by Category (approx.)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($, approx.)</c:v>
                </c:pt>
              </c:strCache>
            </c:strRef>
          </c:tx>
          <c:spPr>
            <a:solidFill>
              <a:srgbClr val="1B2A55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1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104000</c:v>
                </c:pt>
                <c:pt idx="1">
                  <c:v>74000</c:v>
                </c:pt>
                <c:pt idx="2">
                  <c:v>36000</c:v>
                </c:pt>
                <c:pt idx="3">
                  <c:v>19000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621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07B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6213D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16213D"/>
                </a:solidFill>
                <a:latin typeface="Calibri"/>
              </a:rPr>
              <a:t>Order Share by Category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A55"/>
              </a:solidFill>
              <a:effectLst/>
            </c:spPr>
          </c:dPt>
          <c:dPt>
            <c:idx val="1"/>
            <c:bubble3D val="0"/>
            <c:spPr>
              <a:solidFill>
                <a:srgbClr val="4A75B0"/>
              </a:solidFill>
              <a:effectLst/>
            </c:spPr>
          </c:dPt>
          <c:dPt>
            <c:idx val="2"/>
            <c:bubble3D val="0"/>
            <c:spPr>
              <a:solidFill>
                <a:srgbClr val="B9832A"/>
              </a:solidFill>
              <a:effectLst/>
            </c:spPr>
          </c:dPt>
          <c:dPt>
            <c:idx val="3"/>
            <c:bubble3D val="0"/>
            <c:spPr>
              <a:solidFill>
                <a:srgbClr val="A9C1E8"/>
              </a:solidFill>
              <a:effectLst/>
            </c:spPr>
          </c:dPt>
          <c:dLbls>
            <c:dLbl>
              <c:idx val="0"/>
              <c:numFmt formatCode="0.00&quot;%&quot;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0&quot;%&quot;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0&quot;%&quot;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0&quot;%&quot;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44.54</c:v>
                </c:pt>
                <c:pt idx="1">
                  <c:v>31.79</c:v>
                </c:pt>
                <c:pt idx="2">
                  <c:v>15.36</c:v>
                </c:pt>
                <c:pt idx="3">
                  <c:v>8.31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6213D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4A75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1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New</c:v>
                  </c:pt>
                  <c:pt idx="1">
                    <c:v>Returning</c:v>
                  </c:pt>
                  <c:pt idx="2">
                    <c:v>Loyal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</c:v>
                </c:pt>
                <c:pt idx="1">
                  <c:v>701</c:v>
                </c:pt>
                <c:pt idx="2">
                  <c:v>3116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1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1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1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6213D"/>
                </a:solidFill>
                <a:latin typeface="Calibri"/>
              </a:defRPr>
            </a:pPr>
            <a:r>
              <a:rPr sz="1200" b="1" i="0" u="none" strike="noStrike">
                <a:solidFill>
                  <a:srgbClr val="16213D"/>
                </a:solidFill>
                <a:latin typeface="Calibri"/>
              </a:rPr>
              <a:t>Highest Average Review Ratings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Rating</c:v>
                </c:pt>
              </c:strCache>
            </c:strRef>
          </c:tx>
          <c:spPr>
            <a:solidFill>
              <a:srgbClr val="1B2A5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1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Gloves</c:v>
                  </c:pt>
                  <c:pt idx="1">
                    <c:v>Sandals</c:v>
                  </c:pt>
                  <c:pt idx="2">
                    <c:v>Boots</c:v>
                  </c:pt>
                  <c:pt idx="3">
                    <c:v>Hat</c:v>
                  </c:pt>
                  <c:pt idx="4">
                    <c:v>Skirt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3.86</c:v>
                </c:pt>
                <c:pt idx="1">
                  <c:v>3.84</c:v>
                </c:pt>
                <c:pt idx="2">
                  <c:v>3.82</c:v>
                </c:pt>
                <c:pt idx="3">
                  <c:v>3.8</c:v>
                </c:pt>
                <c:pt idx="4">
                  <c:v>3.78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621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1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3.6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6213D"/>
                </a:solidFill>
                <a:latin typeface="Calibri"/>
              </a:defRPr>
            </a:pPr>
            <a:r>
              <a:rPr sz="1200" b="1" i="0" u="none" strike="noStrike">
                <a:solidFill>
                  <a:srgbClr val="16213D"/>
                </a:solidFill>
                <a:latin typeface="Calibri"/>
              </a:rPr>
              <a:t>Highest Discount Application Rates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 (%)</c:v>
                </c:pt>
              </c:strCache>
            </c:strRef>
          </c:tx>
          <c:spPr>
            <a:solidFill>
              <a:srgbClr val="B9832A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1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Hat</c:v>
                  </c:pt>
                  <c:pt idx="1">
                    <c:v>Sneakers</c:v>
                  </c:pt>
                  <c:pt idx="2">
                    <c:v>Coat</c:v>
                  </c:pt>
                  <c:pt idx="3">
                    <c:v>Sweater</c:v>
                  </c:pt>
                  <c:pt idx="4">
                    <c:v>Pants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49.66</c:v>
                </c:pt>
                <c:pt idx="2">
                  <c:v>49.07</c:v>
                </c:pt>
                <c:pt idx="3">
                  <c:v>48.17</c:v>
                </c:pt>
                <c:pt idx="4">
                  <c:v>47.37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621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1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  <c:min val="44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8503920" y="1417320"/>
            <a:ext cx="2926080" cy="2926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92640" y="4572000"/>
            <a:ext cx="320040" cy="320040"/>
          </a:xfrm>
          <a:prstGeom prst="ellipse">
            <a:avLst/>
          </a:prstGeom>
          <a:solidFill>
            <a:srgbClr val="E0A94E"/>
          </a:solidFill>
          <a:ln/>
        </p:spPr>
      </p:sp>
      <p:sp>
        <p:nvSpPr>
          <p:cNvPr id="4" name="Shape 1"/>
          <p:cNvSpPr/>
          <p:nvPr/>
        </p:nvSpPr>
        <p:spPr>
          <a:xfrm>
            <a:off x="10332720" y="1005840"/>
            <a:ext cx="182880" cy="182880"/>
          </a:xfrm>
          <a:prstGeom prst="ellipse">
            <a:avLst/>
          </a:prstGeom>
          <a:solidFill>
            <a:srgbClr val="A9C1E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0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PORTFOLIO PROJECT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21792" y="2331720"/>
            <a:ext cx="8961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Analysis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Retail Data to Business Insights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40080" y="480060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1B2A5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48006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673352" y="4800600"/>
            <a:ext cx="1348740" cy="384048"/>
          </a:xfrm>
          <a:prstGeom prst="roundRect">
            <a:avLst>
              <a:gd name="adj" fmla="val 50000"/>
            </a:avLst>
          </a:prstGeom>
          <a:solidFill>
            <a:srgbClr val="1B2A5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673352" y="4800600"/>
            <a:ext cx="1348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SQL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186684" y="4800600"/>
            <a:ext cx="1060704" cy="384048"/>
          </a:xfrm>
          <a:prstGeom prst="roundRect">
            <a:avLst>
              <a:gd name="adj" fmla="val 50000"/>
            </a:avLst>
          </a:prstGeom>
          <a:solidFill>
            <a:srgbClr val="1B2A5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86684" y="480060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411980" y="4800600"/>
            <a:ext cx="2020824" cy="384048"/>
          </a:xfrm>
          <a:prstGeom prst="roundRect">
            <a:avLst>
              <a:gd name="adj" fmla="val 50000"/>
            </a:avLst>
          </a:prstGeom>
          <a:solidFill>
            <a:srgbClr val="1B2A5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411980" y="4800600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Kumar  |  Aspiring Data Analyst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Business Insights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4356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01368"/>
            <a:ext cx="3118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customer purchasing behavior, spending, products, subscriptions, discounts, shipping, and repeat-purchase patterns.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23444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53128" y="14356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APPROACH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53128" y="1801368"/>
            <a:ext cx="3118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 →  Python  →  MySQL / SQL  →  Power BI  →  Business Insights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23444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156448" y="14356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156448" y="1801368"/>
            <a:ext cx="3118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customer shopping data into decision-ready metrics and interactive business reporting.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1500" y="3520440"/>
            <a:ext cx="960120" cy="96012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929" y="3750869"/>
            <a:ext cx="499262" cy="49926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0" y="4617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Data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696212" y="3872484"/>
            <a:ext cx="384048" cy="256032"/>
          </a:xfrm>
          <a:prstGeom prst="chevron">
            <a:avLst/>
          </a:prstGeom>
          <a:solidFill>
            <a:srgbClr val="E0A94E"/>
          </a:solidFill>
          <a:ln/>
        </p:spPr>
      </p:sp>
      <p:sp>
        <p:nvSpPr>
          <p:cNvPr id="17" name="Shape 14"/>
          <p:cNvSpPr/>
          <p:nvPr/>
        </p:nvSpPr>
        <p:spPr>
          <a:xfrm>
            <a:off x="3022092" y="3520440"/>
            <a:ext cx="960120" cy="96012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521" y="3750869"/>
            <a:ext cx="499262" cy="49926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450592" y="4617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146804" y="3872484"/>
            <a:ext cx="384048" cy="256032"/>
          </a:xfrm>
          <a:prstGeom prst="chevron">
            <a:avLst/>
          </a:prstGeom>
          <a:solidFill>
            <a:srgbClr val="E0A94E"/>
          </a:solidFill>
          <a:ln/>
        </p:spPr>
      </p:sp>
      <p:sp>
        <p:nvSpPr>
          <p:cNvPr id="21" name="Shape 17"/>
          <p:cNvSpPr/>
          <p:nvPr/>
        </p:nvSpPr>
        <p:spPr>
          <a:xfrm>
            <a:off x="5472684" y="3520440"/>
            <a:ext cx="960120" cy="96012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113" y="3750869"/>
            <a:ext cx="499262" cy="49926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901184" y="4617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SQL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597396" y="3872484"/>
            <a:ext cx="384048" cy="256032"/>
          </a:xfrm>
          <a:prstGeom prst="chevron">
            <a:avLst/>
          </a:prstGeom>
          <a:solidFill>
            <a:srgbClr val="E0A94E"/>
          </a:solidFill>
          <a:ln/>
        </p:spPr>
      </p:sp>
      <p:sp>
        <p:nvSpPr>
          <p:cNvPr id="25" name="Shape 20"/>
          <p:cNvSpPr/>
          <p:nvPr/>
        </p:nvSpPr>
        <p:spPr>
          <a:xfrm>
            <a:off x="7923276" y="3520440"/>
            <a:ext cx="960120" cy="96012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705" y="3750869"/>
            <a:ext cx="499262" cy="49926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351776" y="4617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9047988" y="3872484"/>
            <a:ext cx="384048" cy="256032"/>
          </a:xfrm>
          <a:prstGeom prst="chevron">
            <a:avLst/>
          </a:prstGeom>
          <a:solidFill>
            <a:srgbClr val="E0A94E"/>
          </a:solidFill>
          <a:ln/>
        </p:spPr>
      </p:sp>
      <p:sp>
        <p:nvSpPr>
          <p:cNvPr id="29" name="Shape 23"/>
          <p:cNvSpPr/>
          <p:nvPr/>
        </p:nvSpPr>
        <p:spPr>
          <a:xfrm>
            <a:off x="10373868" y="3520440"/>
            <a:ext cx="960120" cy="96012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4297" y="3750869"/>
            <a:ext cx="499262" cy="49926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02368" y="4617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50" dirty="0"/>
          </a:p>
        </p:txBody>
      </p:sp>
      <p:sp>
        <p:nvSpPr>
          <p:cNvPr id="32" name="Text 25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33" name="Text 26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Business Questions Are We Answering?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18488"/>
            <a:ext cx="512064" cy="512064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703" y="1741383"/>
            <a:ext cx="266273" cy="2662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08176" y="1764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33172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 groups generate the most revenue?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297680" y="141732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98848" y="1618488"/>
            <a:ext cx="512064" cy="512064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743" y="1741383"/>
            <a:ext cx="266273" cy="26627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57216" y="1764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4498848" y="233172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and categories are ordered most often?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8046720" y="141732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47888" y="1618488"/>
            <a:ext cx="512064" cy="512064"/>
          </a:xfrm>
          <a:prstGeom prst="ellipse">
            <a:avLst/>
          </a:prstGeom>
          <a:solidFill>
            <a:srgbClr val="4A75B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783" y="1741383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06256" y="1764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8247888" y="233172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subscription status relate to spending and revenue?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548640" y="3822192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4023360"/>
            <a:ext cx="512064" cy="512064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703" y="4146255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08176" y="4169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4736592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purchasing behavior vary across age groups?</a:t>
            </a:r>
            <a:endParaRPr lang="en-US" sz="1550" dirty="0"/>
          </a:p>
        </p:txBody>
      </p:sp>
      <p:sp>
        <p:nvSpPr>
          <p:cNvPr id="24" name="Shape 18"/>
          <p:cNvSpPr/>
          <p:nvPr/>
        </p:nvSpPr>
        <p:spPr>
          <a:xfrm>
            <a:off x="4297680" y="3822192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98848" y="4023360"/>
            <a:ext cx="512064" cy="512064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1743" y="4146255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57216" y="4169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4498848" y="4736592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distribution of new, returning, and loyal customers?</a:t>
            </a:r>
            <a:endParaRPr lang="en-US" sz="1550" dirty="0"/>
          </a:p>
        </p:txBody>
      </p:sp>
      <p:sp>
        <p:nvSpPr>
          <p:cNvPr id="29" name="Shape 22"/>
          <p:cNvSpPr/>
          <p:nvPr/>
        </p:nvSpPr>
        <p:spPr>
          <a:xfrm>
            <a:off x="8046720" y="3822192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47888" y="4023360"/>
            <a:ext cx="512064" cy="512064"/>
          </a:xfrm>
          <a:prstGeom prst="ellipse">
            <a:avLst/>
          </a:prstGeom>
          <a:solidFill>
            <a:srgbClr val="4A75B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0783" y="4146255"/>
            <a:ext cx="266273" cy="26627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06256" y="4169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8247888" y="4736592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patterns exist around discounts and shipping?</a:t>
            </a:r>
            <a:endParaRPr lang="en-US" sz="15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35" name="Text 27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Dataset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2918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394460"/>
            <a:ext cx="640080" cy="64008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5480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316736"/>
            <a:ext cx="201168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944929"/>
            <a:ext cx="2011680" cy="258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Purchase Records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77640" y="1188720"/>
            <a:ext cx="32918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33672" y="1394460"/>
            <a:ext cx="640080" cy="64008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291" y="15480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29200" y="1316736"/>
            <a:ext cx="201168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5029200" y="1944929"/>
            <a:ext cx="2011680" cy="258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Columns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2542032"/>
            <a:ext cx="260604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2688336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25" y="2771729"/>
            <a:ext cx="180685" cy="18068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52144" y="26883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3108960"/>
            <a:ext cx="2240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291840" y="2542032"/>
            <a:ext cx="260604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456432" y="2688336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9825" y="2771729"/>
            <a:ext cx="180685" cy="18068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895344" y="26883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3474720" y="3108960"/>
            <a:ext cx="2240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Purchased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035040" y="2542032"/>
            <a:ext cx="260604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199632" y="2688336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3025" y="2771729"/>
            <a:ext cx="180685" cy="18068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638544" y="26883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6217920" y="3108960"/>
            <a:ext cx="2240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Amount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778240" y="2542032"/>
            <a:ext cx="260604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942832" y="2688336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6225" y="2771729"/>
            <a:ext cx="180685" cy="18068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381744" y="26883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</a:t>
            </a:r>
            <a:endParaRPr lang="en-US" sz="1050" dirty="0"/>
          </a:p>
        </p:txBody>
      </p:sp>
      <p:sp>
        <p:nvSpPr>
          <p:cNvPr id="33" name="Text 25"/>
          <p:cNvSpPr txBox="1"/>
          <p:nvPr/>
        </p:nvSpPr>
        <p:spPr>
          <a:xfrm>
            <a:off x="8961120" y="3108960"/>
            <a:ext cx="2240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Purchases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Purchases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2048256" y="4306824"/>
            <a:ext cx="260604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2212848" y="4453128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6241" y="4536521"/>
            <a:ext cx="180685" cy="18068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2651760" y="44531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&amp; SHIPPING</a:t>
            </a:r>
            <a:endParaRPr lang="en-US" sz="1050" dirty="0"/>
          </a:p>
        </p:txBody>
      </p:sp>
      <p:sp>
        <p:nvSpPr>
          <p:cNvPr id="38" name="Text 29"/>
          <p:cNvSpPr txBox="1"/>
          <p:nvPr/>
        </p:nvSpPr>
        <p:spPr>
          <a:xfrm>
            <a:off x="2231136" y="4873752"/>
            <a:ext cx="2240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Applied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Code Used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791456" y="4306824"/>
            <a:ext cx="260604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956048" y="4453128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9441" y="4536521"/>
            <a:ext cx="180685" cy="180685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394960" y="44531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050" dirty="0"/>
          </a:p>
        </p:txBody>
      </p:sp>
      <p:sp>
        <p:nvSpPr>
          <p:cNvPr id="43" name="Text 33"/>
          <p:cNvSpPr txBox="1"/>
          <p:nvPr/>
        </p:nvSpPr>
        <p:spPr>
          <a:xfrm>
            <a:off x="4974336" y="4873752"/>
            <a:ext cx="2240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Rating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7534656" y="4306824"/>
            <a:ext cx="260604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7699248" y="4453128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82641" y="4536521"/>
            <a:ext cx="180685" cy="180685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8138160" y="44531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050" dirty="0"/>
          </a:p>
        </p:txBody>
      </p:sp>
      <p:sp>
        <p:nvSpPr>
          <p:cNvPr id="48" name="Text 37"/>
          <p:cNvSpPr txBox="1"/>
          <p:nvPr/>
        </p:nvSpPr>
        <p:spPr>
          <a:xfrm>
            <a:off x="7717536" y="4873752"/>
            <a:ext cx="2240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Status</a:t>
            </a:r>
            <a:endParaRPr lang="en-US" sz="1050" dirty="0"/>
          </a:p>
        </p:txBody>
      </p:sp>
      <p:sp>
        <p:nvSpPr>
          <p:cNvPr id="49" name="Text 38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50" name="Text 39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Feature Engineering with Python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353312"/>
            <a:ext cx="457200" cy="45720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63040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31673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INSPECTION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794760" y="1289304"/>
            <a:ext cx="7662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CSV with Pandas; inspected structure and null counts using head() and info().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020824"/>
            <a:ext cx="1109167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4944" y="2139696"/>
            <a:ext cx="457200" cy="45720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24942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2103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794760" y="2075688"/>
            <a:ext cx="7662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missing Review Rating values filled using the median rating within each Category.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2807208"/>
            <a:ext cx="1109167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4944" y="2926080"/>
            <a:ext cx="457200" cy="45720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03580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288950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STANDARDIZATION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3794760" y="2862072"/>
            <a:ext cx="7662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column names to lowercase snake_case; renamed purchase_amount_(usd) to purchase_amount.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593592"/>
            <a:ext cx="1109167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4944" y="3712464"/>
            <a:ext cx="457200" cy="45720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82219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5880" y="36758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3794760" y="3648456"/>
            <a:ext cx="7662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age_group via quartiles (Young Adult, Adult, Middle Age, Senior) and purchase_frequency_days from frequency text.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379976"/>
            <a:ext cx="1109167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94944" y="4498848"/>
            <a:ext cx="457200" cy="45720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60857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25880" y="44622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CHECK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3794760" y="4434840"/>
            <a:ext cx="7662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discount_applied matched promo_code_used for every record, then removed the redundant field.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48640" y="5276088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0F1B3C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822960" y="527608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“Python transformed the raw CSV into an analysis-ready dataset.”</a:t>
            </a:r>
            <a:endParaRPr lang="en-US" sz="1350" dirty="0"/>
          </a:p>
        </p:txBody>
      </p:sp>
      <p:sp>
        <p:nvSpPr>
          <p:cNvPr id="31" name="Text 24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32" name="Text 25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Business Questions into SQL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MYSQL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was used to translate ten focused business questions into repeatable queries against the customers table.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673352"/>
            <a:ext cx="118872" cy="118872"/>
          </a:xfrm>
          <a:prstGeom prst="ellipse">
            <a:avLst/>
          </a:prstGeom>
          <a:solidFill>
            <a:srgbClr val="B983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9264" y="1600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89280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spending comparisons by gender and age group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50876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98848" y="1673352"/>
            <a:ext cx="118872" cy="118872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18304" y="1600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189280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at or above average discounted spend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50876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47888" y="1673352"/>
            <a:ext cx="118872" cy="118872"/>
          </a:xfrm>
          <a:prstGeom prst="ellipse">
            <a:avLst/>
          </a:prstGeom>
          <a:solidFill>
            <a:srgbClr val="4A75B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67344" y="1600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302752" y="189280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Returning / Loyal customer segmentation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60604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2770632"/>
            <a:ext cx="118872" cy="118872"/>
          </a:xfrm>
          <a:prstGeom prst="ellipse">
            <a:avLst/>
          </a:prstGeom>
          <a:solidFill>
            <a:srgbClr val="B983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9264" y="2697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299008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classification of customer segments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7680" y="260604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98848" y="2770632"/>
            <a:ext cx="118872" cy="118872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18304" y="2697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53712" y="299008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products ranked within each category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46720" y="260604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47888" y="2770632"/>
            <a:ext cx="118872" cy="118872"/>
          </a:xfrm>
          <a:prstGeom prst="ellipse">
            <a:avLst/>
          </a:prstGeom>
          <a:solidFill>
            <a:srgbClr val="4A75B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467344" y="2697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302752" y="299008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totals, order counts, average spend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SNIPPET — SUBSCRIBER COMPARISON QUERY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114800"/>
            <a:ext cx="11091672" cy="1737360"/>
          </a:xfrm>
          <a:prstGeom prst="roundRect">
            <a:avLst>
              <a:gd name="adj" fmla="val 3158"/>
            </a:avLst>
          </a:prstGeom>
          <a:solidFill>
            <a:srgbClr val="0F1B3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8680" y="4279392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subscription_status,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COUNT(customer_id)               AS total_customer,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ROUND(AVG(purchase_amount), 2)    AS average_spend,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ROUND(SUM(purchase_amount), 2)    AS total_revenue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subscription_status;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KPI Snapshot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709928"/>
            <a:ext cx="457200" cy="45720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19656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5528" y="2350008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3.9K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95528" y="295351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15968" y="150876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17136" y="1709928"/>
            <a:ext cx="457200" cy="45720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81965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17136" y="2350008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</a:t>
            </a:r>
            <a:endParaRPr lang="en-US" sz="3400" dirty="0"/>
          </a:p>
        </p:txBody>
      </p:sp>
      <p:sp>
        <p:nvSpPr>
          <p:cNvPr id="13" name="Text 9"/>
          <p:cNvSpPr txBox="1"/>
          <p:nvPr/>
        </p:nvSpPr>
        <p:spPr>
          <a:xfrm>
            <a:off x="4517136" y="295351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Amount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37576" y="150876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38744" y="1709928"/>
            <a:ext cx="457200" cy="45720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181965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38744" y="2350008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</a:t>
            </a:r>
            <a:endParaRPr lang="en-US" sz="3400" dirty="0"/>
          </a:p>
        </p:txBody>
      </p:sp>
      <p:sp>
        <p:nvSpPr>
          <p:cNvPr id="18" name="Text 13"/>
          <p:cNvSpPr txBox="1"/>
          <p:nvPr/>
        </p:nvSpPr>
        <p:spPr>
          <a:xfrm>
            <a:off x="8238744" y="295351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Rating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94360" y="365760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5528" y="3858768"/>
            <a:ext cx="457200" cy="45720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396849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95528" y="4498848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$233,081</a:t>
            </a:r>
            <a:endParaRPr lang="en-US" sz="3400" dirty="0"/>
          </a:p>
        </p:txBody>
      </p:sp>
      <p:sp>
        <p:nvSpPr>
          <p:cNvPr id="23" name="Text 17"/>
          <p:cNvSpPr txBox="1"/>
          <p:nvPr/>
        </p:nvSpPr>
        <p:spPr>
          <a:xfrm>
            <a:off x="795528" y="510235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 Value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15968" y="365760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17136" y="3858768"/>
            <a:ext cx="457200" cy="45720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864" y="396849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17136" y="4498848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1,053</a:t>
            </a:r>
            <a:endParaRPr lang="en-US" sz="3400" dirty="0"/>
          </a:p>
        </p:txBody>
      </p:sp>
      <p:sp>
        <p:nvSpPr>
          <p:cNvPr id="28" name="Text 21"/>
          <p:cNvSpPr txBox="1"/>
          <p:nvPr/>
        </p:nvSpPr>
        <p:spPr>
          <a:xfrm>
            <a:off x="4517136" y="510235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Customers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37576" y="365760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38744" y="3858768"/>
            <a:ext cx="457200" cy="45720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3968496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38744" y="4498848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2,847</a:t>
            </a:r>
            <a:endParaRPr lang="en-US" sz="3400" dirty="0"/>
          </a:p>
        </p:txBody>
      </p:sp>
      <p:sp>
        <p:nvSpPr>
          <p:cNvPr id="33" name="Text 25"/>
          <p:cNvSpPr txBox="1"/>
          <p:nvPr/>
        </p:nvSpPr>
        <p:spPr>
          <a:xfrm>
            <a:off x="8238744" y="510235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 Customers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35" name="Text 27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Drives Revenue?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REVENUE ANALYSIS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51206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035040" y="1234440"/>
          <a:ext cx="51206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035040" y="47365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counts — Young Adult: 1,028   |   Middle Age: 986   |   Adult: 942   |   Senior: 944</a:t>
            </a:r>
            <a:endParaRPr lang="en-US" sz="950" dirty="0"/>
          </a:p>
        </p:txBody>
      </p:sp>
      <p:sp>
        <p:nvSpPr>
          <p:cNvPr id="7" name="Shape 3"/>
          <p:cNvSpPr/>
          <p:nvPr/>
        </p:nvSpPr>
        <p:spPr>
          <a:xfrm>
            <a:off x="548640" y="539496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1B2A55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lead the four age groups in both revenue and order count.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reflect observed totals only; no causal relationship is implied.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Category-Level Performance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ANALYSIS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539496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72200" y="1234440"/>
          <a:ext cx="539496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25780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1B2A55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is the largest category by both revenue and order share.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9" name="Text 5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 by Purchase History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7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727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1 previous purchase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 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A7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15968" y="118872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498848" y="1280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15727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2–10 previous purchases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  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37576" y="118872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0456" y="1280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0456" y="15727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10 previous purchases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220456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  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0506456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79.9%</a:t>
            </a:r>
            <a:endParaRPr lang="en-US" sz="14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1097280" y="2697480"/>
          <a:ext cx="99669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identifies segment size, but does not calculate segment revenue or customer lifetime value.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Products Are Customers Ordering?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products by order count within each category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154533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Jewelry — 171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Sunglasses — 161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Belt — 161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56432" y="154533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20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Pants — 171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Shirt — 169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Blouse — 158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41732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99632" y="154533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920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Sandals — 160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Shoes — 150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Sneakers — 145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78240" y="141732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42832" y="154533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1920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Jacket — 163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Coat — 161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48640" y="342900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Chart 1" descr=""/>
          <p:cNvGraphicFramePr/>
          <p:nvPr/>
        </p:nvGraphicFramePr>
        <p:xfrm>
          <a:off x="6172200" y="342900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Behavior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94960" cy="361188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6861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572768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237744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1,053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22960" y="2935224"/>
            <a:ext cx="484632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0083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 Base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114800" y="298094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822960" y="3538728"/>
            <a:ext cx="484632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3611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114800" y="35844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$62,645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822960" y="4142232"/>
            <a:ext cx="484632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42153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114800" y="418795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$59.49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6245352" y="1280160"/>
            <a:ext cx="5394960" cy="361188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19672" y="1554480"/>
            <a:ext cx="548640" cy="54864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346" y="1686154"/>
            <a:ext cx="285293" cy="285293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205472" y="1572768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6519672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9811512" y="237744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2,847</a:t>
            </a:r>
            <a:endParaRPr lang="en-US" sz="1900" dirty="0"/>
          </a:p>
        </p:txBody>
      </p:sp>
      <p:sp>
        <p:nvSpPr>
          <p:cNvPr id="25" name="Shape 21"/>
          <p:cNvSpPr/>
          <p:nvPr/>
        </p:nvSpPr>
        <p:spPr>
          <a:xfrm>
            <a:off x="6519672" y="2935224"/>
            <a:ext cx="484632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519672" y="30083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 Base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9811512" y="298094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900" dirty="0"/>
          </a:p>
        </p:txBody>
      </p:sp>
      <p:sp>
        <p:nvSpPr>
          <p:cNvPr id="28" name="Shape 24"/>
          <p:cNvSpPr/>
          <p:nvPr/>
        </p:nvSpPr>
        <p:spPr>
          <a:xfrm>
            <a:off x="6519672" y="3538728"/>
            <a:ext cx="484632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519672" y="3611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9811512" y="35844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$170,436</a:t>
            </a:r>
            <a:endParaRPr lang="en-US" sz="1900" dirty="0"/>
          </a:p>
        </p:txBody>
      </p:sp>
      <p:sp>
        <p:nvSpPr>
          <p:cNvPr id="31" name="Shape 27"/>
          <p:cNvSpPr/>
          <p:nvPr/>
        </p:nvSpPr>
        <p:spPr>
          <a:xfrm>
            <a:off x="6519672" y="4142232"/>
            <a:ext cx="484632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519672" y="42153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9811512" y="418795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$59.87</a:t>
            </a:r>
            <a:endParaRPr lang="en-US" sz="1900" dirty="0"/>
          </a:p>
        </p:txBody>
      </p:sp>
      <p:sp>
        <p:nvSpPr>
          <p:cNvPr id="34" name="Text 30"/>
          <p:cNvSpPr txBox="1"/>
          <p:nvPr/>
        </p:nvSpPr>
        <p:spPr>
          <a:xfrm>
            <a:off x="548640" y="5074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 generate more total revenue because they represent a much larger customer population. 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amounts are very similar between subscribers and non-subscribers; subscription status is not shown to cause a spending difference.</a:t>
            </a:r>
            <a:endParaRPr lang="en-US" sz="1150" dirty="0"/>
          </a:p>
        </p:txBody>
      </p:sp>
      <p:sp>
        <p:nvSpPr>
          <p:cNvPr id="35" name="Text 31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36" name="Text 32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Power BI Dashboard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LAYER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4709160"/>
          </a:xfrm>
          <a:prstGeom prst="roundRect">
            <a:avLst>
              <a:gd name="adj" fmla="val 1165"/>
            </a:avLst>
          </a:prstGeom>
          <a:solidFill>
            <a:srgbClr val="0F1B3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389888"/>
            <a:ext cx="1744675" cy="329184"/>
          </a:xfrm>
          <a:prstGeom prst="roundRect">
            <a:avLst>
              <a:gd name="adj" fmla="val 50000"/>
            </a:avLst>
          </a:prstGeom>
          <a:solidFill>
            <a:srgbClr val="2C427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389888"/>
            <a:ext cx="17446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Status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49931" y="1389888"/>
            <a:ext cx="769925" cy="329184"/>
          </a:xfrm>
          <a:prstGeom prst="roundRect">
            <a:avLst>
              <a:gd name="adj" fmla="val 50000"/>
            </a:avLst>
          </a:prstGeom>
          <a:solidFill>
            <a:srgbClr val="2C427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49931" y="1389888"/>
            <a:ext cx="7699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47872" y="1389888"/>
            <a:ext cx="919886" cy="329184"/>
          </a:xfrm>
          <a:prstGeom prst="roundRect">
            <a:avLst>
              <a:gd name="adj" fmla="val 50000"/>
            </a:avLst>
          </a:prstGeom>
          <a:solidFill>
            <a:srgbClr val="2C427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47872" y="1389888"/>
            <a:ext cx="9198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95774" y="1389888"/>
            <a:ext cx="1294790" cy="329184"/>
          </a:xfrm>
          <a:prstGeom prst="roundRect">
            <a:avLst>
              <a:gd name="adj" fmla="val 50000"/>
            </a:avLst>
          </a:prstGeom>
          <a:solidFill>
            <a:srgbClr val="2C427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5774" y="1389888"/>
            <a:ext cx="12947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18581" y="1389888"/>
            <a:ext cx="1369771" cy="329184"/>
          </a:xfrm>
          <a:prstGeom prst="roundRect">
            <a:avLst>
              <a:gd name="adj" fmla="val 50000"/>
            </a:avLst>
          </a:prstGeom>
          <a:solidFill>
            <a:srgbClr val="2C427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018581" y="1389888"/>
            <a:ext cx="13697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1874520"/>
            <a:ext cx="3453384" cy="777240"/>
          </a:xfrm>
          <a:prstGeom prst="roundRect">
            <a:avLst>
              <a:gd name="adj" fmla="val 5882"/>
            </a:avLst>
          </a:prstGeom>
          <a:solidFill>
            <a:srgbClr val="1B2A5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1947672"/>
            <a:ext cx="3179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3.9K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331720"/>
            <a:ext cx="317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67784" y="1874520"/>
            <a:ext cx="3453384" cy="777240"/>
          </a:xfrm>
          <a:prstGeom prst="roundRect">
            <a:avLst>
              <a:gd name="adj" fmla="val 5882"/>
            </a:avLst>
          </a:prstGeom>
          <a:solidFill>
            <a:srgbClr val="1B2A5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04944" y="1947672"/>
            <a:ext cx="3179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504944" y="2331720"/>
            <a:ext cx="317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Purchase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58328" y="1874520"/>
            <a:ext cx="3453384" cy="777240"/>
          </a:xfrm>
          <a:prstGeom prst="roundRect">
            <a:avLst>
              <a:gd name="adj" fmla="val 5882"/>
            </a:avLst>
          </a:prstGeom>
          <a:solidFill>
            <a:srgbClr val="1B2A5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95488" y="1947672"/>
            <a:ext cx="3179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8095488" y="2331720"/>
            <a:ext cx="317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Rating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" y="2788920"/>
            <a:ext cx="3453384" cy="1417320"/>
          </a:xfrm>
          <a:prstGeom prst="roundRect">
            <a:avLst>
              <a:gd name="adj" fmla="val 3226"/>
            </a:avLst>
          </a:prstGeom>
          <a:solidFill>
            <a:srgbClr val="2C427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2926080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Mix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3273552"/>
            <a:ext cx="317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67784" y="2788920"/>
            <a:ext cx="3453384" cy="1417320"/>
          </a:xfrm>
          <a:prstGeom prst="roundRect">
            <a:avLst>
              <a:gd name="adj" fmla="val 3226"/>
            </a:avLst>
          </a:prstGeom>
          <a:solidFill>
            <a:srgbClr val="2C427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04944" y="2926080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04944" y="3273552"/>
            <a:ext cx="317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958328" y="2788920"/>
            <a:ext cx="3453384" cy="1417320"/>
          </a:xfrm>
          <a:prstGeom prst="roundRect">
            <a:avLst>
              <a:gd name="adj" fmla="val 3226"/>
            </a:avLst>
          </a:prstGeom>
          <a:solidFill>
            <a:srgbClr val="2C427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095488" y="2926080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Order Share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095488" y="3273552"/>
            <a:ext cx="317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77240" y="4343400"/>
            <a:ext cx="5248656" cy="1325880"/>
          </a:xfrm>
          <a:prstGeom prst="roundRect">
            <a:avLst>
              <a:gd name="adj" fmla="val 3448"/>
            </a:avLst>
          </a:prstGeom>
          <a:solidFill>
            <a:srgbClr val="2C427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14400" y="4480560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— Revenue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914400" y="4828032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chart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63056" y="4343400"/>
            <a:ext cx="5248656" cy="1325880"/>
          </a:xfrm>
          <a:prstGeom prst="roundRect">
            <a:avLst>
              <a:gd name="adj" fmla="val 3448"/>
            </a:avLst>
          </a:prstGeom>
          <a:solidFill>
            <a:srgbClr val="2C427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00216" y="4480560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— Orders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300216" y="4828032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chart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00760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layout based on the project’s documented dashboard structure and slicers (source .pbix file not included in the project).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the Analysis Tell Us?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3200400"/>
          </a:xfrm>
          <a:prstGeom prst="roundRect">
            <a:avLst>
              <a:gd name="adj" fmla="val 2632"/>
            </a:avLst>
          </a:prstGeom>
          <a:solidFill>
            <a:srgbClr val="1B2A55"/>
          </a:solidFill>
          <a:ln/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13232" y="180136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307592" y="2203704"/>
            <a:ext cx="566928" cy="566928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3655" y="2339767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9718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42900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is the largest category by revenue and order share.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52344" y="1600200"/>
            <a:ext cx="2084832" cy="32004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916936" y="180136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02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511296" y="2203704"/>
            <a:ext cx="566928" cy="566928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359" y="2339767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889504" y="29718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2935224" y="342900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lead the four age groups in revenue and orders.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956048" y="1600200"/>
            <a:ext cx="2084832" cy="3200400"/>
          </a:xfrm>
          <a:prstGeom prst="roundRect">
            <a:avLst>
              <a:gd name="adj" fmla="val 2632"/>
            </a:avLst>
          </a:prstGeom>
          <a:solidFill>
            <a:srgbClr val="1B2A55"/>
          </a:solidFill>
          <a:ln/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5120640" y="180136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03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715000" y="2203704"/>
            <a:ext cx="566928" cy="566928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063" y="2339767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093208" y="29718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5138928" y="342900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base is predominantly non-subscribed.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159752" y="1600200"/>
            <a:ext cx="2084832" cy="32004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7324344" y="180136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04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7918704" y="2203704"/>
            <a:ext cx="566928" cy="566928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767" y="2339767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296912" y="29718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7342632" y="342900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more than 10 previous purchases form the largest segment by count.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9363456" y="1600200"/>
            <a:ext cx="2084832" cy="3200400"/>
          </a:xfrm>
          <a:prstGeom prst="roundRect">
            <a:avLst>
              <a:gd name="adj" fmla="val 2632"/>
            </a:avLst>
          </a:prstGeom>
          <a:solidFill>
            <a:srgbClr val="1B2A55"/>
          </a:solidFill>
          <a:ln/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9528048" y="180136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05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10122408" y="2203704"/>
            <a:ext cx="566928" cy="566928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8471" y="2339767"/>
            <a:ext cx="294803" cy="294803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500616" y="29718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9546336" y="342900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purchases average modestly more than Standard; causation is not established.</a:t>
            </a:r>
            <a:endParaRPr lang="en-US" sz="1150" dirty="0"/>
          </a:p>
        </p:txBody>
      </p:sp>
      <p:sp>
        <p:nvSpPr>
          <p:cNvPr id="34" name="Text 27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35" name="Text 28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Opportunities for Further Analysis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REFLECTION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27632"/>
            <a:ext cx="457200" cy="45720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276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50" kern="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4846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200000"/>
              </a:lnSpc>
              <a:buSzPct val="100000"/>
              <a:buChar char="•"/>
            </a:pPr>
            <a:r>
              <a:rPr lang="en-US" sz="12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missing review ratings required category-level median imputation</a:t>
            </a:r>
            <a:endParaRPr lang="en-US" sz="1250" dirty="0"/>
          </a:p>
          <a:p>
            <a:pPr marL="177800" indent="-177800">
              <a:lnSpc>
                <a:spcPct val="200000"/>
              </a:lnSpc>
              <a:buSzPct val="100000"/>
              <a:buChar char="•"/>
            </a:pPr>
            <a:r>
              <a:rPr lang="en-US" sz="12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and promo-code fields should be revalidated with future data</a:t>
            </a:r>
            <a:endParaRPr lang="en-US" sz="1250" dirty="0"/>
          </a:p>
          <a:p>
            <a:pPr marL="177800" indent="-177800">
              <a:lnSpc>
                <a:spcPct val="200000"/>
              </a:lnSpc>
              <a:buSzPct val="100000"/>
              <a:buChar char="•"/>
            </a:pPr>
            <a:r>
              <a:rPr lang="en-US" sz="12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table naming inconsistency exists between customer and customers</a:t>
            </a:r>
            <a:endParaRPr lang="en-US" sz="1250" dirty="0"/>
          </a:p>
          <a:p>
            <a:pPr marL="177800" indent="-177800">
              <a:lnSpc>
                <a:spcPct val="200000"/>
              </a:lnSpc>
              <a:buSzPct val="100000"/>
              <a:buChar char="•"/>
            </a:pPr>
            <a:r>
              <a:rPr lang="en-US" sz="12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credentials should not be committed directly in notebooks</a:t>
            </a:r>
            <a:endParaRPr lang="en-US" sz="1250" dirty="0"/>
          </a:p>
          <a:p>
            <a:pPr marL="177800" indent="-177800">
              <a:lnSpc>
                <a:spcPct val="200000"/>
              </a:lnSpc>
              <a:buSzPct val="100000"/>
              <a:buChar char="•"/>
            </a:pPr>
            <a:r>
              <a:rPr lang="en-US" sz="12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supplied project does not include the .pbix file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371600"/>
            <a:ext cx="5394960" cy="3566160"/>
          </a:xfrm>
          <a:prstGeom prst="roundRect">
            <a:avLst>
              <a:gd name="adj" fmla="val 1795"/>
            </a:avLst>
          </a:prstGeom>
          <a:solidFill>
            <a:srgbClr val="1B2A55"/>
          </a:solidFill>
          <a:ln/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01384" y="1627632"/>
            <a:ext cx="457200" cy="45720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73736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14032" y="16276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EXTENSIONS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519672" y="233172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customer segmentation</a:t>
            </a:r>
            <a:endParaRPr lang="en-US" sz="13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modeling</a:t>
            </a:r>
            <a:endParaRPr lang="en-US" sz="13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analysis</a:t>
            </a:r>
            <a:endParaRPr lang="en-US" sz="13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/ churn modeling</a:t>
            </a:r>
            <a:endParaRPr lang="en-US" sz="13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analysis if dates become available</a:t>
            </a:r>
            <a:endParaRPr lang="en-US" sz="13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location, and payment drill-through analysis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519672" y="45537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improvements — not implemented in the current project.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Skills Demonstrated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3383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8196" y="1737360"/>
            <a:ext cx="566928" cy="566928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4259" y="187342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468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68096" y="2971800"/>
            <a:ext cx="2167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Treatment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1463040"/>
            <a:ext cx="2606040" cy="3383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11396" y="1737360"/>
            <a:ext cx="566928" cy="566928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459" y="187342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29000" y="2468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MYSQL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511296" y="2971800"/>
            <a:ext cx="2167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Statements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1463040"/>
            <a:ext cx="2606040" cy="3383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54596" y="1737360"/>
            <a:ext cx="566928" cy="566928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659" y="187342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72200" y="2468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254496" y="2971800"/>
            <a:ext cx="2167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Design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Visualization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778240" y="1463040"/>
            <a:ext cx="2606040" cy="3383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25400" dir="5400000">
              <a:srgbClr val="0F1B3C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797796" y="1737360"/>
            <a:ext cx="566928" cy="566928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3859" y="1873423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915400" y="2468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8997696" y="2971800"/>
            <a:ext cx="2167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Analysis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Analysis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25" name="Text 19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Decisions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CLOSING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914400" cy="91440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911096"/>
            <a:ext cx="475488" cy="475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2743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Customer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673352" y="2029968"/>
            <a:ext cx="384048" cy="237744"/>
          </a:xfrm>
          <a:prstGeom prst="chevron">
            <a:avLst/>
          </a:prstGeom>
          <a:solidFill>
            <a:srgbClr val="E0A94E"/>
          </a:solidFill>
          <a:ln/>
        </p:spPr>
      </p:sp>
      <p:sp>
        <p:nvSpPr>
          <p:cNvPr id="8" name="Shape 5"/>
          <p:cNvSpPr/>
          <p:nvPr/>
        </p:nvSpPr>
        <p:spPr>
          <a:xfrm>
            <a:off x="3044952" y="1691640"/>
            <a:ext cx="914400" cy="914400"/>
          </a:xfrm>
          <a:prstGeom prst="ellipse">
            <a:avLst/>
          </a:prstGeom>
          <a:solidFill>
            <a:srgbClr val="2C427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911096"/>
            <a:ext cx="475488" cy="4754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450592" y="2743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123944" y="2029968"/>
            <a:ext cx="384048" cy="237744"/>
          </a:xfrm>
          <a:prstGeom prst="chevron">
            <a:avLst/>
          </a:prstGeom>
          <a:solidFill>
            <a:srgbClr val="E0A94E"/>
          </a:solidFill>
          <a:ln/>
        </p:spPr>
      </p:sp>
      <p:sp>
        <p:nvSpPr>
          <p:cNvPr id="12" name="Shape 8"/>
          <p:cNvSpPr/>
          <p:nvPr/>
        </p:nvSpPr>
        <p:spPr>
          <a:xfrm>
            <a:off x="5495544" y="1691640"/>
            <a:ext cx="914400" cy="91440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911096"/>
            <a:ext cx="475488" cy="47548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901184" y="2743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574536" y="2029968"/>
            <a:ext cx="384048" cy="237744"/>
          </a:xfrm>
          <a:prstGeom prst="chevron">
            <a:avLst/>
          </a:prstGeom>
          <a:solidFill>
            <a:srgbClr val="E0A94E"/>
          </a:solidFill>
          <a:ln/>
        </p:spPr>
      </p:sp>
      <p:sp>
        <p:nvSpPr>
          <p:cNvPr id="16" name="Shape 11"/>
          <p:cNvSpPr/>
          <p:nvPr/>
        </p:nvSpPr>
        <p:spPr>
          <a:xfrm>
            <a:off x="7946136" y="1691640"/>
            <a:ext cx="914400" cy="914400"/>
          </a:xfrm>
          <a:prstGeom prst="ellipse">
            <a:avLst/>
          </a:prstGeom>
          <a:solidFill>
            <a:srgbClr val="2C427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191109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51776" y="2743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9025128" y="2029968"/>
            <a:ext cx="384048" cy="237744"/>
          </a:xfrm>
          <a:prstGeom prst="chevron">
            <a:avLst/>
          </a:prstGeom>
          <a:solidFill>
            <a:srgbClr val="E0A94E"/>
          </a:solidFill>
          <a:ln/>
        </p:spPr>
      </p:sp>
      <p:sp>
        <p:nvSpPr>
          <p:cNvPr id="20" name="Shape 14"/>
          <p:cNvSpPr/>
          <p:nvPr/>
        </p:nvSpPr>
        <p:spPr>
          <a:xfrm>
            <a:off x="10396728" y="1691640"/>
            <a:ext cx="914400" cy="91440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6184" y="1911096"/>
            <a:ext cx="475488" cy="47548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802368" y="2743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822960" y="3703320"/>
            <a:ext cx="10543032" cy="960120"/>
          </a:xfrm>
          <a:prstGeom prst="roundRect">
            <a:avLst>
              <a:gd name="adj" fmla="val 6667"/>
            </a:avLst>
          </a:prstGeom>
          <a:solidFill>
            <a:srgbClr val="1B2A55"/>
          </a:solidFill>
          <a:ln w="12700">
            <a:solidFill>
              <a:srgbClr val="2C4270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1097280" y="3703320"/>
            <a:ext cx="9994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 end-to-end customer analytics project demonstrating how raw retail data can be transformed into structured, decision-ready business insights.”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1295248" y="5212080"/>
            <a:ext cx="384048" cy="384048"/>
          </a:xfrm>
          <a:prstGeom prst="ellipse">
            <a:avLst/>
          </a:prstGeom>
          <a:solidFill>
            <a:srgbClr val="2C4270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7419" y="5304252"/>
            <a:ext cx="199705" cy="19970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770736" y="521208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3178912" y="5212080"/>
            <a:ext cx="384048" cy="384048"/>
          </a:xfrm>
          <a:prstGeom prst="ellipse">
            <a:avLst/>
          </a:prstGeom>
          <a:solidFill>
            <a:srgbClr val="2C4270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1083" y="5304252"/>
            <a:ext cx="199705" cy="199705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3654400" y="5212080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linkedin.com/in/keshav-kumar-911a2231b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8427568" y="5212080"/>
            <a:ext cx="384048" cy="384048"/>
          </a:xfrm>
          <a:prstGeom prst="ellipse">
            <a:avLst/>
          </a:prstGeom>
          <a:solidFill>
            <a:srgbClr val="2C4270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9739" y="5304252"/>
            <a:ext cx="199705" cy="19970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8903056" y="5212080"/>
            <a:ext cx="14036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150" dirty="0"/>
          </a:p>
        </p:txBody>
      </p:sp>
      <p:sp>
        <p:nvSpPr>
          <p:cNvPr id="34" name="Text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Kumar  —  Aspiring Data Analyst</a:t>
            </a:r>
            <a:endParaRPr lang="en-US" sz="1000" dirty="0"/>
          </a:p>
        </p:txBody>
      </p:sp>
      <p:sp>
        <p:nvSpPr>
          <p:cNvPr id="35" name="Text 25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2026-09-17T16:50:48Z</dcterms:created>
  <dcterms:modified xsi:type="dcterms:W3CDTF">2026-09-17T16:50:48Z</dcterms:modified>
</cp:coreProperties>
</file>