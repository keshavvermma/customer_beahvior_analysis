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1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lang="en-IN" sz="1300" b="1" i="0" u="none" strike="noStrike">
                <a:solidFill>
                  <a:srgbClr val="16213D"/>
                </a:solidFill>
                <a:latin typeface="Calibri"/>
              </a:rPr>
              <a:t>Revenue 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B2A55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21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9-46C0-BAD4-9FD6A9CA85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07B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lang="en-IN" sz="1300" b="1" i="0" u="none" strike="noStrike">
                <a:solidFill>
                  <a:srgbClr val="16213D"/>
                </a:solidFill>
                <a:latin typeface="Calibri"/>
              </a:rPr>
              <a:t>Revenue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B9832A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1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Middle Age</c:v>
                </c:pt>
                <c:pt idx="2">
                  <c:v>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A6-49CC-A358-32588C7FF8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07B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lang="en-IN" sz="1300" b="1" i="0" u="none" strike="noStrike">
                <a:solidFill>
                  <a:srgbClr val="16213D"/>
                </a:solidFill>
                <a:latin typeface="Calibri"/>
              </a:rPr>
              <a:t>Revenue by Category (approx.)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($, approx.)</c:v>
                </c:pt>
              </c:strCache>
            </c:strRef>
          </c:tx>
          <c:spPr>
            <a:solidFill>
              <a:srgbClr val="1B2A55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1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104000</c:v>
                </c:pt>
                <c:pt idx="1">
                  <c:v>74000</c:v>
                </c:pt>
                <c:pt idx="2">
                  <c:v>36000</c:v>
                </c:pt>
                <c:pt idx="3">
                  <c:v>19000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CE-43B6-9834-046091C976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07B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lang="en-IN" sz="1300" b="1" i="0" u="none" strike="noStrike">
                <a:solidFill>
                  <a:srgbClr val="16213D"/>
                </a:solidFill>
                <a:latin typeface="Calibri"/>
              </a:rPr>
              <a:t>Order Share by Category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76B-4F63-AFD7-45EF8117643D}"/>
              </c:ext>
            </c:extLst>
          </c:dPt>
          <c:dPt>
            <c:idx val="1"/>
            <c:bubble3D val="0"/>
            <c:spPr>
              <a:solidFill>
                <a:srgbClr val="4A75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76B-4F63-AFD7-45EF8117643D}"/>
              </c:ext>
            </c:extLst>
          </c:dPt>
          <c:dPt>
            <c:idx val="2"/>
            <c:bubble3D val="0"/>
            <c:spPr>
              <a:solidFill>
                <a:srgbClr val="B983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76B-4F63-AFD7-45EF8117643D}"/>
              </c:ext>
            </c:extLst>
          </c:dPt>
          <c:dPt>
            <c:idx val="3"/>
            <c:bubble3D val="0"/>
            <c:spPr>
              <a:solidFill>
                <a:srgbClr val="A9C1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76B-4F63-AFD7-45EF8117643D}"/>
              </c:ext>
            </c:extLst>
          </c:dPt>
          <c:dLbls>
            <c:dLbl>
              <c:idx val="0"/>
              <c:numFmt formatCode="0.0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76B-4F63-AFD7-45EF8117643D}"/>
                </c:ext>
              </c:extLst>
            </c:dLbl>
            <c:dLbl>
              <c:idx val="1"/>
              <c:numFmt formatCode="0.0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76B-4F63-AFD7-45EF8117643D}"/>
                </c:ext>
              </c:extLst>
            </c:dLbl>
            <c:dLbl>
              <c:idx val="2"/>
              <c:numFmt formatCode="0.0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76B-4F63-AFD7-45EF8117643D}"/>
                </c:ext>
              </c:extLst>
            </c:dLbl>
            <c:dLbl>
              <c:idx val="3"/>
              <c:numFmt formatCode="0.00&quot;%&quot;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76B-4F63-AFD7-45EF8117643D}"/>
                </c:ext>
              </c:extLst>
            </c:dLbl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44.54</c:v>
                </c:pt>
                <c:pt idx="1">
                  <c:v>31.79</c:v>
                </c:pt>
                <c:pt idx="2">
                  <c:v>15.36</c:v>
                </c:pt>
                <c:pt idx="3">
                  <c:v>8.31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6B-4F63-AFD7-45EF811764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621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4A75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21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Returning</c:v>
                </c:pt>
                <c:pt idx="2">
                  <c:v>Loyal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</c:v>
                </c:pt>
                <c:pt idx="1">
                  <c:v>701</c:v>
                </c:pt>
                <c:pt idx="2">
                  <c:v>3116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3F-41B9-B11C-3D4A14C7BE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lang="en-IN" sz="1200" b="1" i="0" u="none" strike="noStrike">
                <a:solidFill>
                  <a:srgbClr val="16213D"/>
                </a:solidFill>
                <a:latin typeface="Calibri"/>
              </a:rPr>
              <a:t>Highest Average Review Ratings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Rating</c:v>
                </c:pt>
              </c:strCache>
            </c:strRef>
          </c:tx>
          <c:spPr>
            <a:solidFill>
              <a:srgbClr val="1B2A5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1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Gloves</c:v>
                </c:pt>
                <c:pt idx="1">
                  <c:v>Sandals</c:v>
                </c:pt>
                <c:pt idx="2">
                  <c:v>Boots</c:v>
                </c:pt>
                <c:pt idx="3">
                  <c:v>Hat</c:v>
                </c:pt>
                <c:pt idx="4">
                  <c:v>Skirt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FB-457E-BF34-6591182FC7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3.6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16213D"/>
                </a:solidFill>
                <a:latin typeface="Calibri"/>
              </a:defRPr>
            </a:pPr>
            <a:r>
              <a:rPr lang="en-IN" sz="1200" b="1" i="0" u="none" strike="noStrike">
                <a:solidFill>
                  <a:srgbClr val="16213D"/>
                </a:solidFill>
                <a:latin typeface="Calibri"/>
              </a:rPr>
              <a:t>Highest Discount Application Rates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B9832A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1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Hat</c:v>
                </c:pt>
                <c:pt idx="1">
                  <c:v>Sneakers</c:v>
                </c:pt>
                <c:pt idx="2">
                  <c:v>Coat</c:v>
                </c:pt>
                <c:pt idx="3">
                  <c:v>Sweater</c:v>
                </c:pt>
                <c:pt idx="4">
                  <c:v>Pants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8A-4D54-BB9A-C4004A73EB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"/>
          <c:min val="44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081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8503920" y="141732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92640" y="4572000"/>
            <a:ext cx="320040" cy="320040"/>
          </a:xfrm>
          <a:prstGeom prst="ellipse">
            <a:avLst/>
          </a:prstGeom>
          <a:solidFill>
            <a:srgbClr val="E0A94E"/>
          </a:solidFill>
          <a:ln/>
        </p:spPr>
      </p:sp>
      <p:sp>
        <p:nvSpPr>
          <p:cNvPr id="4" name="Shape 1"/>
          <p:cNvSpPr/>
          <p:nvPr/>
        </p:nvSpPr>
        <p:spPr>
          <a:xfrm>
            <a:off x="10332720" y="1005840"/>
            <a:ext cx="182880" cy="182880"/>
          </a:xfrm>
          <a:prstGeom prst="ellipse">
            <a:avLst/>
          </a:prstGeom>
          <a:solidFill>
            <a:srgbClr val="A9C1E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 PROJECT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2331720"/>
            <a:ext cx="8961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Retail Data to Business Insights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480060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48006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673352" y="4800600"/>
            <a:ext cx="1348740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673352" y="4800600"/>
            <a:ext cx="1348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86684" y="4800600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86684" y="480060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11980" y="480060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1B2A5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11980" y="480060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Kumar  |  Aspiring Data Analyst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Business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435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0136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purchasing behavior, spending, products, subscriptions, discounts, shipping, and repeat-purchase patterns.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234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53128" y="1435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180136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 →  Python  →  MySQL / SQL  →  Power BI  →  Business Insights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234440"/>
            <a:ext cx="35204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56448" y="1435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56448" y="1801368"/>
            <a:ext cx="3118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customer shopping data into decision-ready metrics and interactive business reporting.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" y="3520440"/>
            <a:ext cx="960120" cy="9601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9" y="3750869"/>
            <a:ext cx="499262" cy="49926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0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Data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696212" y="3872484"/>
            <a:ext cx="384048" cy="256032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17" name="Shape 14"/>
          <p:cNvSpPr/>
          <p:nvPr/>
        </p:nvSpPr>
        <p:spPr>
          <a:xfrm>
            <a:off x="3022092" y="3520440"/>
            <a:ext cx="960120" cy="96012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521" y="3750869"/>
            <a:ext cx="499262" cy="49926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450592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146804" y="3872484"/>
            <a:ext cx="384048" cy="256032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21" name="Shape 17"/>
          <p:cNvSpPr/>
          <p:nvPr/>
        </p:nvSpPr>
        <p:spPr>
          <a:xfrm>
            <a:off x="5472684" y="3520440"/>
            <a:ext cx="960120" cy="9601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113" y="3750869"/>
            <a:ext cx="499262" cy="49926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901184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597396" y="3872484"/>
            <a:ext cx="384048" cy="256032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25" name="Shape 20"/>
          <p:cNvSpPr/>
          <p:nvPr/>
        </p:nvSpPr>
        <p:spPr>
          <a:xfrm>
            <a:off x="7923276" y="3520440"/>
            <a:ext cx="960120" cy="96012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705" y="3750869"/>
            <a:ext cx="499262" cy="49926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351776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047988" y="3872484"/>
            <a:ext cx="384048" cy="256032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29" name="Shape 23"/>
          <p:cNvSpPr/>
          <p:nvPr/>
        </p:nvSpPr>
        <p:spPr>
          <a:xfrm>
            <a:off x="10373868" y="3520440"/>
            <a:ext cx="960120" cy="96012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297" y="3750869"/>
            <a:ext cx="499262" cy="49926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02368" y="4617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3" name="Text 26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Business Questions Are We Answering?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512064" cy="512064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03" y="1741383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08176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3172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groups generate the most revenue?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618488"/>
            <a:ext cx="512064" cy="512064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743" y="1741383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57216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233172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and categories are ordered most often?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618488"/>
            <a:ext cx="512064" cy="512064"/>
          </a:xfrm>
          <a:prstGeom prst="ellipse">
            <a:avLst/>
          </a:prstGeom>
          <a:solidFill>
            <a:srgbClr val="4A75B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783" y="174138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06256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247888" y="233172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subscription status relate to spending and revenue?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548640" y="38221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023360"/>
            <a:ext cx="512064" cy="512064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703" y="414625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08176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736592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purchasing behavior vary across age groups?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4297680" y="38221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8848" y="4023360"/>
            <a:ext cx="512064" cy="512064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1743" y="4146255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57216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4498848" y="4736592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new, returning, and loyal customers?</a:t>
            </a:r>
            <a:endParaRPr lang="en-US" sz="1550" dirty="0"/>
          </a:p>
        </p:txBody>
      </p:sp>
      <p:sp>
        <p:nvSpPr>
          <p:cNvPr id="29" name="Shape 22"/>
          <p:cNvSpPr/>
          <p:nvPr/>
        </p:nvSpPr>
        <p:spPr>
          <a:xfrm>
            <a:off x="8046720" y="3822192"/>
            <a:ext cx="35661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4023360"/>
            <a:ext cx="512064" cy="512064"/>
          </a:xfrm>
          <a:prstGeom prst="ellipse">
            <a:avLst/>
          </a:prstGeom>
          <a:solidFill>
            <a:srgbClr val="4A75B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0783" y="4146255"/>
            <a:ext cx="266273" cy="26627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06256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247888" y="4736592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patterns exist around discounts and shipping?</a:t>
            </a:r>
            <a:endParaRPr lang="en-US" sz="15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394460"/>
            <a:ext cx="640080" cy="64008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15480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316736"/>
            <a:ext cx="201168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44929"/>
            <a:ext cx="2011680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Records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77640" y="118872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33672" y="1394460"/>
            <a:ext cx="640080" cy="64008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291" y="15480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0" y="1316736"/>
            <a:ext cx="201168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1944929"/>
            <a:ext cx="2011680" cy="25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Columns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542032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2688336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625" y="2771729"/>
            <a:ext cx="180685" cy="18068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52144" y="2688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3108960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91840" y="2542032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456432" y="2688336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9825" y="2771729"/>
            <a:ext cx="180685" cy="18068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895344" y="2688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3474720" y="3108960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Purchased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035040" y="2542032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199632" y="2688336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3025" y="2771729"/>
            <a:ext cx="180685" cy="18068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638544" y="2688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6217920" y="3108960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778240" y="2542032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942832" y="2688336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6225" y="2771729"/>
            <a:ext cx="180685" cy="18068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381744" y="26883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8961120" y="3108960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Purchases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2048256" y="4306824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212848" y="4453128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96241" y="4536521"/>
            <a:ext cx="180685" cy="18068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651760" y="4453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&amp; SHIPPING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2231136" y="4873752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Applied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Code Used</a:t>
            </a:r>
            <a:endParaRPr lang="en-US" sz="1050" dirty="0"/>
          </a:p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791456" y="4306824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956048" y="4453128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9441" y="4536521"/>
            <a:ext cx="180685" cy="18068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394960" y="4453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43" name="Text 33"/>
          <p:cNvSpPr txBox="1"/>
          <p:nvPr/>
        </p:nvSpPr>
        <p:spPr>
          <a:xfrm>
            <a:off x="4974336" y="4873752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7534656" y="4306824"/>
            <a:ext cx="260604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7699248" y="4453128"/>
            <a:ext cx="347472" cy="347472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82641" y="4536521"/>
            <a:ext cx="180685" cy="18068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138160" y="4453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050" dirty="0"/>
          </a:p>
        </p:txBody>
      </p:sp>
      <p:sp>
        <p:nvSpPr>
          <p:cNvPr id="48" name="Text 37"/>
          <p:cNvSpPr txBox="1"/>
          <p:nvPr/>
        </p:nvSpPr>
        <p:spPr>
          <a:xfrm>
            <a:off x="7717536" y="4873752"/>
            <a:ext cx="2240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</a:t>
            </a:r>
            <a:endParaRPr lang="en-US" sz="1050" dirty="0"/>
          </a:p>
        </p:txBody>
      </p:sp>
      <p:sp>
        <p:nvSpPr>
          <p:cNvPr id="49" name="Text 38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50" name="Text 39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 with Python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353312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463040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3167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794760" y="1289304"/>
            <a:ext cx="7662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CSV with Pandas; inspected structure and null counts using head() and info().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020824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944" y="2139696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24942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103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794760" y="2075688"/>
            <a:ext cx="7662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missing Review Rating values filled using the median rating within each Category.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807208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944" y="2926080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0358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28895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STANDARDIZATION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794760" y="2862072"/>
            <a:ext cx="7662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column names to lowercase snake_case; renamed purchase_amount_(usd) to purchase_amount.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93592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4944" y="3712464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82219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6758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3794760" y="3648456"/>
            <a:ext cx="7662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via quartiles (Young Adult, Adult, Middle Age, Senior) and purchase_frequency_days from frequency text.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379976"/>
            <a:ext cx="11091672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94944" y="4498848"/>
            <a:ext cx="457200" cy="4572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60857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44622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CHECK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3794760" y="4434840"/>
            <a:ext cx="7662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discount_applied matched promo_code_used for every record, then removed the redundant field.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527608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0F1B3C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22960" y="527608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“Python transformed the raw CSV into an analysis-ready dataset.”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2" name="Text 25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Business Questions into SQL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MYSQL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was used to translate ten focused business questions into repeatable queries against the customers table.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73352"/>
            <a:ext cx="118872" cy="118872"/>
          </a:xfrm>
          <a:prstGeom prst="ellipse">
            <a:avLst/>
          </a:prstGeom>
          <a:solidFill>
            <a:srgbClr val="B983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9264" y="1600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89280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spending comparisons by gender and age group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673352"/>
            <a:ext cx="118872" cy="1188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18304" y="1600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189280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at or above average discounted spend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50876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47888" y="1673352"/>
            <a:ext cx="118872" cy="118872"/>
          </a:xfrm>
          <a:prstGeom prst="ellipse">
            <a:avLst/>
          </a:prstGeom>
          <a:solidFill>
            <a:srgbClr val="4A75B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67344" y="1600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189280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Returning / Loyal customer segmentation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60604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2770632"/>
            <a:ext cx="118872" cy="118872"/>
          </a:xfrm>
          <a:prstGeom prst="ellipse">
            <a:avLst/>
          </a:prstGeom>
          <a:solidFill>
            <a:srgbClr val="B983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9264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299008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classification of customer segments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260604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98848" y="2770632"/>
            <a:ext cx="118872" cy="118872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18304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53712" y="299008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ranked within each category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260604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47888" y="2770632"/>
            <a:ext cx="118872" cy="118872"/>
          </a:xfrm>
          <a:prstGeom prst="ellipse">
            <a:avLst/>
          </a:prstGeom>
          <a:solidFill>
            <a:srgbClr val="4A75B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67344" y="2697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299008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totals, order counts, average spend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SNIPPET — SUBSCRIBER COMPARISON QUERY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11091672" cy="1737360"/>
          </a:xfrm>
          <a:prstGeom prst="roundRect">
            <a:avLst>
              <a:gd name="adj" fmla="val 3158"/>
            </a:avLst>
          </a:prstGeom>
          <a:solidFill>
            <a:srgbClr val="0F1B3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4279392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subscription_status,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COUNT(customer_id)               AS total_customer,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ROUND(AVG(purchase_amount), 2)    AS average_spend,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ROUND(SUM(purchase_amount), 2)    AS total_revenue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subscription_status;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KPI Snapshot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70992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196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5528" y="235000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3.9K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295351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15968" y="150876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7136" y="170992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181965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17136" y="235000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4517136" y="295351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37576" y="150876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170992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181965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38744" y="235000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3400" dirty="0"/>
          </a:p>
        </p:txBody>
      </p:sp>
      <p:sp>
        <p:nvSpPr>
          <p:cNvPr id="18" name="Text 13"/>
          <p:cNvSpPr txBox="1"/>
          <p:nvPr/>
        </p:nvSpPr>
        <p:spPr>
          <a:xfrm>
            <a:off x="8238744" y="295351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" y="36576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" y="385876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396849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95528" y="449884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$233,081</a:t>
            </a:r>
            <a:endParaRPr lang="en-US" sz="3400" dirty="0"/>
          </a:p>
        </p:txBody>
      </p:sp>
      <p:sp>
        <p:nvSpPr>
          <p:cNvPr id="23" name="Text 17"/>
          <p:cNvSpPr txBox="1"/>
          <p:nvPr/>
        </p:nvSpPr>
        <p:spPr>
          <a:xfrm>
            <a:off x="795528" y="51023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 Value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15968" y="36576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17136" y="385876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864" y="396849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17136" y="449884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</a:t>
            </a:r>
            <a:endParaRPr lang="en-US" sz="3400" dirty="0"/>
          </a:p>
        </p:txBody>
      </p:sp>
      <p:sp>
        <p:nvSpPr>
          <p:cNvPr id="28" name="Text 21"/>
          <p:cNvSpPr txBox="1"/>
          <p:nvPr/>
        </p:nvSpPr>
        <p:spPr>
          <a:xfrm>
            <a:off x="4517136" y="51023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Customers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37576" y="3657600"/>
            <a:ext cx="35204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38744" y="3858768"/>
            <a:ext cx="457200" cy="4572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396849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38744" y="449884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3400" dirty="0"/>
          </a:p>
        </p:txBody>
      </p:sp>
      <p:sp>
        <p:nvSpPr>
          <p:cNvPr id="33" name="Text 25"/>
          <p:cNvSpPr txBox="1"/>
          <p:nvPr/>
        </p:nvSpPr>
        <p:spPr>
          <a:xfrm>
            <a:off x="8238744" y="510235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 Customers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Drives Revenue?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REVENUE ANALYSIS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34440"/>
          <a:ext cx="51206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035040" y="1234440"/>
          <a:ext cx="51206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035040" y="4736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counts — Young Adult: 1,028   |   Middle Age: 986   |   Adult: 942   |   Senior: 944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B2A55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the four age groups in both revenue and order count.</a:t>
            </a:r>
            <a:endParaRPr lang="en-US" sz="1300" dirty="0"/>
          </a:p>
          <a:p>
            <a:pPr marL="0" indent="0">
              <a:buNone/>
            </a:pPr>
            <a:r>
              <a:rPr lang="en-US" sz="1050" i="1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reflect observed totals only; no causal relationship is implied.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Category-Level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ANALYSIS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34440"/>
          <a:ext cx="53949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72200" y="1234440"/>
          <a:ext cx="53949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1B2A55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largest category by both revenue and order share.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by Purchase History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4A7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1 previous purchase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 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A7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188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98848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previous purchases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 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84848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37576" y="1188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0456" y="1280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0456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10 previous purchases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0456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 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506456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1097280" y="2697480"/>
          <a:ext cx="99669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identifies segment size, but does not calculate segment revenue or customer lifetime value.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Products Are Customers Ordering?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by order count within each category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5453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Jewelry — 171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Sunglasses — 161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Belt — 161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56432" y="15453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Pants — 171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Shirt — 169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Blouse — 158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99632" y="15453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Sandals — 160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Shoes — 150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Sneakers — 145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141732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942832" y="1545336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920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Jacket — 163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Coat — 161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342900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"/>
          <p:cNvGraphicFramePr/>
          <p:nvPr/>
        </p:nvGraphicFramePr>
        <p:xfrm>
          <a:off x="6172200" y="3429000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Behavior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16861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7276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237744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22960" y="2935224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008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 Base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114800" y="298094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22960" y="3538728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35844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$62,645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822960" y="4142232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153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0" y="41879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$59.49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6245352" y="1280160"/>
            <a:ext cx="5394960" cy="36118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19672" y="1554480"/>
            <a:ext cx="548640" cy="54864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346" y="1686154"/>
            <a:ext cx="285293" cy="28529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05472" y="157276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6519672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9811512" y="237744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1900" dirty="0"/>
          </a:p>
        </p:txBody>
      </p:sp>
      <p:sp>
        <p:nvSpPr>
          <p:cNvPr id="25" name="Shape 21"/>
          <p:cNvSpPr/>
          <p:nvPr/>
        </p:nvSpPr>
        <p:spPr>
          <a:xfrm>
            <a:off x="6519672" y="2935224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19672" y="300837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 Base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9811512" y="298094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900" dirty="0"/>
          </a:p>
        </p:txBody>
      </p:sp>
      <p:sp>
        <p:nvSpPr>
          <p:cNvPr id="28" name="Shape 24"/>
          <p:cNvSpPr/>
          <p:nvPr/>
        </p:nvSpPr>
        <p:spPr>
          <a:xfrm>
            <a:off x="6519672" y="3538728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519672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9811512" y="35844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$170,436</a:t>
            </a:r>
            <a:endParaRPr lang="en-US" sz="1900" dirty="0"/>
          </a:p>
        </p:txBody>
      </p:sp>
      <p:sp>
        <p:nvSpPr>
          <p:cNvPr id="31" name="Shape 27"/>
          <p:cNvSpPr/>
          <p:nvPr/>
        </p:nvSpPr>
        <p:spPr>
          <a:xfrm>
            <a:off x="6519672" y="4142232"/>
            <a:ext cx="484632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519672" y="42153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9811512" y="41879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$59.87</a:t>
            </a:r>
            <a:endParaRPr lang="en-US" sz="1900" dirty="0"/>
          </a:p>
        </p:txBody>
      </p:sp>
      <p:sp>
        <p:nvSpPr>
          <p:cNvPr id="34" name="Text 30"/>
          <p:cNvSpPr txBox="1"/>
          <p:nvPr/>
        </p:nvSpPr>
        <p:spPr>
          <a:xfrm>
            <a:off x="548640" y="5074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 generate more total revenue because they represent a much larger customer population.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amounts are very similar between subscribers and non-subscribers; subscription status is not shown to cause a spending difference.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Analysis Tell Us?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1B2A55"/>
          </a:solidFill>
          <a:ln/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801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307592" y="2203704"/>
            <a:ext cx="566928" cy="566928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655" y="2339767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290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largest category by revenue and order share.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52344" y="160020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916936" y="1801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11296" y="2203704"/>
            <a:ext cx="566928" cy="56692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359" y="2339767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89504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935224" y="34290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the four age groups in revenue and orders.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956048" y="160020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1B2A55"/>
          </a:solidFill>
          <a:ln/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5120640" y="1801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715000" y="2203704"/>
            <a:ext cx="566928" cy="566928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063" y="2339767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93208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138928" y="34290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base is predominantly non-subscribed.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159752" y="160020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324344" y="1801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918704" y="2203704"/>
            <a:ext cx="566928" cy="56692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4767" y="2339767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96912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342632" y="34290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more than 10 previous purchases form the largest segment by count.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363456" y="1600200"/>
            <a:ext cx="2084832" cy="3200400"/>
          </a:xfrm>
          <a:prstGeom prst="roundRect">
            <a:avLst>
              <a:gd name="adj" fmla="val 2632"/>
            </a:avLst>
          </a:prstGeom>
          <a:solidFill>
            <a:srgbClr val="1B2A55"/>
          </a:solidFill>
          <a:ln/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9528048" y="180136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05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10122408" y="2203704"/>
            <a:ext cx="566928" cy="566928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8471" y="2339767"/>
            <a:ext cx="294803" cy="29480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500616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9546336" y="34290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purchases average modestly more than Standard; causation is not established.</a:t>
            </a:r>
            <a:endParaRPr lang="en-US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35" name="Text 28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 Demonstrated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8196" y="1737360"/>
            <a:ext cx="566928" cy="56692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259" y="187342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971800"/>
            <a:ext cx="216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Treatment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11396" y="1737360"/>
            <a:ext cx="566928" cy="566928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459" y="18734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MYSQL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511296" y="2971800"/>
            <a:ext cx="216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Statements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46304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54596" y="1737360"/>
            <a:ext cx="566928" cy="566928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0659" y="187342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7220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254496" y="2971800"/>
            <a:ext cx="216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Design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Visualization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778240" y="1463040"/>
            <a:ext cx="2606040" cy="3383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88900" dist="25400" dir="5400000" algn="bl" rotWithShape="0">
              <a:srgbClr val="0F1B3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97796" y="1737360"/>
            <a:ext cx="566928" cy="566928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3859" y="187342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1540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16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997696" y="2971800"/>
            <a:ext cx="21671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Analysis</a:t>
            </a:r>
            <a:endParaRPr lang="en-US" sz="1150" dirty="0"/>
          </a:p>
          <a:p>
            <a:pPr marL="152400" indent="-1524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707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10911535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CLOSING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914400" cy="9144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110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Customer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73352" y="2029968"/>
            <a:ext cx="384048" cy="237744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8" name="Shape 5"/>
          <p:cNvSpPr/>
          <p:nvPr/>
        </p:nvSpPr>
        <p:spPr>
          <a:xfrm>
            <a:off x="3044952" y="1691640"/>
            <a:ext cx="914400" cy="914400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91109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50592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123944" y="2029968"/>
            <a:ext cx="384048" cy="237744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12" name="Shape 8"/>
          <p:cNvSpPr/>
          <p:nvPr/>
        </p:nvSpPr>
        <p:spPr>
          <a:xfrm>
            <a:off x="5495544" y="1691640"/>
            <a:ext cx="914400" cy="9144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91109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01184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574536" y="2029968"/>
            <a:ext cx="384048" cy="237744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16" name="Shape 11"/>
          <p:cNvSpPr/>
          <p:nvPr/>
        </p:nvSpPr>
        <p:spPr>
          <a:xfrm>
            <a:off x="7946136" y="1691640"/>
            <a:ext cx="914400" cy="914400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191109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51776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9025128" y="2029968"/>
            <a:ext cx="384048" cy="237744"/>
          </a:xfrm>
          <a:prstGeom prst="chevron">
            <a:avLst/>
          </a:prstGeom>
          <a:solidFill>
            <a:srgbClr val="E0A94E"/>
          </a:solidFill>
          <a:ln/>
        </p:spPr>
      </p:sp>
      <p:sp>
        <p:nvSpPr>
          <p:cNvPr id="20" name="Shape 14"/>
          <p:cNvSpPr/>
          <p:nvPr/>
        </p:nvSpPr>
        <p:spPr>
          <a:xfrm>
            <a:off x="10396728" y="1691640"/>
            <a:ext cx="914400" cy="914400"/>
          </a:xfrm>
          <a:prstGeom prst="ellipse">
            <a:avLst/>
          </a:prstGeom>
          <a:solidFill>
            <a:srgbClr val="B9832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6184" y="191109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802368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22960" y="3703320"/>
            <a:ext cx="10543032" cy="960120"/>
          </a:xfrm>
          <a:prstGeom prst="roundRect">
            <a:avLst>
              <a:gd name="adj" fmla="val 6667"/>
            </a:avLst>
          </a:prstGeom>
          <a:solidFill>
            <a:srgbClr val="1B2A55"/>
          </a:solidFill>
          <a:ln w="12700">
            <a:solidFill>
              <a:srgbClr val="2C4270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097280" y="3703320"/>
            <a:ext cx="9994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end-to-end customer analytics project demonstrating how raw retail data can be transformed into structured, decision-ready business insights.”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1295248" y="5212080"/>
            <a:ext cx="384048" cy="384048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7419" y="5304252"/>
            <a:ext cx="199705" cy="1997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770736" y="521208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3178912" y="5212080"/>
            <a:ext cx="384048" cy="384048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1083" y="5304252"/>
            <a:ext cx="199705" cy="199705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654400" y="5212080"/>
            <a:ext cx="4453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linkedin.com/in/keshav-kumar-911a2231b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8427568" y="5212080"/>
            <a:ext cx="384048" cy="384048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9739" y="5304252"/>
            <a:ext cx="199705" cy="1997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903056" y="5212080"/>
            <a:ext cx="1403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50" dirty="0"/>
          </a:p>
        </p:txBody>
      </p:sp>
      <p:sp>
        <p:nvSpPr>
          <p:cNvPr id="34" name="Text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Kumar  —  Aspiring Data Analyst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1091153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1118</Words>
  <Application>Microsoft Office PowerPoint</Application>
  <PresentationFormat>Widescreen</PresentationFormat>
  <Paragraphs>292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Keshav Verma</cp:lastModifiedBy>
  <cp:revision>2</cp:revision>
  <dcterms:created xsi:type="dcterms:W3CDTF">2026-09-17T16:50:48Z</dcterms:created>
  <dcterms:modified xsi:type="dcterms:W3CDTF">2026-09-18T07:35:47Z</dcterms:modified>
</cp:coreProperties>
</file>