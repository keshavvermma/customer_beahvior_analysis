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2" r:id="rId16"/>
  </p:sldIdLst>
  <p:sldSz cx="18288000" cy="10287000"/>
  <p:notesSz cx="6858000" cy="9144000"/>
  <p:embeddedFontLst>
    <p:embeddedFont>
      <p:font typeface="IBM Plex Mono" panose="020B0509050203000203" pitchFamily="49" charset="0"/>
      <p:regular r:id="rId17"/>
    </p:embeddedFont>
    <p:embeddedFont>
      <p:font typeface="Montserrat Bold" panose="020B0604020202020204" charset="0"/>
      <p:regular r:id="rId18"/>
    </p:embeddedFont>
    <p:embeddedFont>
      <p:font typeface="Open Sans" panose="020B0606030504020204" pitchFamily="34" charset="0"/>
      <p:regular r:id="rId19"/>
    </p:embeddedFont>
    <p:embeddedFont>
      <p:font typeface="Open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0" y="0"/>
            <a:ext cx="8382000" cy="10287000"/>
          </a:xfrm>
          <a:custGeom>
            <a:avLst/>
            <a:gdLst/>
            <a:ahLst/>
            <a:cxnLst/>
            <a:rect l="l" t="t" r="r" b="b"/>
            <a:pathLst>
              <a:path w="8382000" h="10287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5" b="-65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7239000" y="0"/>
            <a:ext cx="11049000" cy="10287000"/>
            <a:chOff x="0" y="0"/>
            <a:chExt cx="14732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32000" cy="13716000"/>
            </a:xfrm>
            <a:custGeom>
              <a:avLst/>
              <a:gdLst/>
              <a:ahLst/>
              <a:cxnLst/>
              <a:rect l="l" t="t" r="r" b="b"/>
              <a:pathLst>
                <a:path w="14732000" h="13716000">
                  <a:moveTo>
                    <a:pt x="0" y="0"/>
                  </a:moveTo>
                  <a:lnTo>
                    <a:pt x="14732000" y="0"/>
                  </a:lnTo>
                  <a:lnTo>
                    <a:pt x="1473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32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1752600"/>
            <a:ext cx="1143000" cy="66675"/>
            <a:chOff x="0" y="0"/>
            <a:chExt cx="1524000" cy="88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24B7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" y="1038225"/>
            <a:ext cx="838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F24B7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END-TO-END DATA ANALYST PORTFOLIO CASE STUDY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2143125"/>
            <a:ext cx="10001250" cy="184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690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Shopping</a:t>
            </a:r>
          </a:p>
          <a:p>
            <a:pPr algn="l">
              <a:lnSpc>
                <a:spcPts val="7176"/>
              </a:lnSpc>
            </a:pPr>
            <a:r>
              <a:rPr lang="en-US" sz="690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Behavior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724400"/>
            <a:ext cx="7810500" cy="38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From Raw Retail Data to Business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7791450"/>
            <a:ext cx="85725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61D7E8"/>
                </a:solidFill>
                <a:latin typeface="IBM Plex Mono"/>
                <a:ea typeface="IBM Plex Mono"/>
                <a:cs typeface="IBM Plex Mono"/>
                <a:sym typeface="IBM Plex Mono"/>
              </a:rPr>
              <a:t>PYTHON   |   MYSQL / SQL   |   POWER BI   |   CUSTOMER ANALYTICS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01  /  PROJECT 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82250" y="9772650"/>
            <a:ext cx="6991350" cy="42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endParaRPr lang="en-US" sz="1200" b="1" spc="192" dirty="0">
              <a:solidFill>
                <a:srgbClr val="F24B7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r">
              <a:lnSpc>
                <a:spcPts val="1679"/>
              </a:lnSpc>
            </a:pPr>
            <a:endParaRPr lang="en-US" sz="1200" b="1" spc="192" dirty="0">
              <a:solidFill>
                <a:srgbClr val="F24B78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Raw Data to Business Insights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3333750"/>
            <a:ext cx="2476500" cy="1428750"/>
            <a:chOff x="0" y="0"/>
            <a:chExt cx="3302000" cy="190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02000" cy="1905000"/>
            </a:xfrm>
            <a:custGeom>
              <a:avLst/>
              <a:gdLst/>
              <a:ahLst/>
              <a:cxnLst/>
              <a:rect l="l" t="t" r="r" b="b"/>
              <a:pathLst>
                <a:path w="3302000" h="1905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836615"/>
                  </a:lnTo>
                  <a:cubicBezTo>
                    <a:pt x="3302000" y="1854752"/>
                    <a:pt x="3294795" y="1872146"/>
                    <a:pt x="3281971" y="1884971"/>
                  </a:cubicBezTo>
                  <a:cubicBezTo>
                    <a:pt x="3269146" y="1897795"/>
                    <a:pt x="3251752" y="1905000"/>
                    <a:pt x="3233615" y="1905000"/>
                  </a:cubicBezTo>
                  <a:lnTo>
                    <a:pt x="68385" y="1905000"/>
                  </a:lnTo>
                  <a:cubicBezTo>
                    <a:pt x="50248" y="1905000"/>
                    <a:pt x="32854" y="1897795"/>
                    <a:pt x="20029" y="1884971"/>
                  </a:cubicBezTo>
                  <a:cubicBezTo>
                    <a:pt x="7205" y="1872146"/>
                    <a:pt x="0" y="1854752"/>
                    <a:pt x="0" y="1836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302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SHOPPING DATA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3486150" y="4048125"/>
            <a:ext cx="666750" cy="0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4286250" y="3333750"/>
            <a:ext cx="2476500" cy="1428750"/>
            <a:chOff x="0" y="0"/>
            <a:chExt cx="3302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02000" cy="1905000"/>
            </a:xfrm>
            <a:custGeom>
              <a:avLst/>
              <a:gdLst/>
              <a:ahLst/>
              <a:cxnLst/>
              <a:rect l="l" t="t" r="r" b="b"/>
              <a:pathLst>
                <a:path w="3302000" h="1905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836615"/>
                  </a:lnTo>
                  <a:cubicBezTo>
                    <a:pt x="3302000" y="1854752"/>
                    <a:pt x="3294795" y="1872146"/>
                    <a:pt x="3281971" y="1884971"/>
                  </a:cubicBezTo>
                  <a:cubicBezTo>
                    <a:pt x="3269146" y="1897795"/>
                    <a:pt x="3251752" y="1905000"/>
                    <a:pt x="3233615" y="1905000"/>
                  </a:cubicBezTo>
                  <a:lnTo>
                    <a:pt x="68385" y="1905000"/>
                  </a:lnTo>
                  <a:cubicBezTo>
                    <a:pt x="50248" y="1905000"/>
                    <a:pt x="32854" y="1897795"/>
                    <a:pt x="20029" y="1884971"/>
                  </a:cubicBezTo>
                  <a:cubicBezTo>
                    <a:pt x="7205" y="1872146"/>
                    <a:pt x="0" y="1854752"/>
                    <a:pt x="0" y="1836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3302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PYTHON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PREPARATION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858000" y="4048125"/>
            <a:ext cx="666750" cy="0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7658100" y="3333750"/>
            <a:ext cx="2476500" cy="1428750"/>
            <a:chOff x="0" y="0"/>
            <a:chExt cx="3302000" cy="190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2000" cy="1905000"/>
            </a:xfrm>
            <a:custGeom>
              <a:avLst/>
              <a:gdLst/>
              <a:ahLst/>
              <a:cxnLst/>
              <a:rect l="l" t="t" r="r" b="b"/>
              <a:pathLst>
                <a:path w="3302000" h="1905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836615"/>
                  </a:lnTo>
                  <a:cubicBezTo>
                    <a:pt x="3302000" y="1854752"/>
                    <a:pt x="3294795" y="1872146"/>
                    <a:pt x="3281971" y="1884971"/>
                  </a:cubicBezTo>
                  <a:cubicBezTo>
                    <a:pt x="3269146" y="1897795"/>
                    <a:pt x="3251752" y="1905000"/>
                    <a:pt x="3233615" y="1905000"/>
                  </a:cubicBezTo>
                  <a:lnTo>
                    <a:pt x="68385" y="1905000"/>
                  </a:lnTo>
                  <a:cubicBezTo>
                    <a:pt x="50248" y="1905000"/>
                    <a:pt x="32854" y="1897795"/>
                    <a:pt x="20029" y="1884971"/>
                  </a:cubicBezTo>
                  <a:cubicBezTo>
                    <a:pt x="7205" y="1872146"/>
                    <a:pt x="0" y="1854752"/>
                    <a:pt x="0" y="1836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302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MYSQL / SQL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ANALYSIS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0229850" y="4048125"/>
            <a:ext cx="666750" cy="0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1029950" y="3333750"/>
            <a:ext cx="2476500" cy="1428750"/>
            <a:chOff x="0" y="0"/>
            <a:chExt cx="3302000" cy="190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02000" cy="1905000"/>
            </a:xfrm>
            <a:custGeom>
              <a:avLst/>
              <a:gdLst/>
              <a:ahLst/>
              <a:cxnLst/>
              <a:rect l="l" t="t" r="r" b="b"/>
              <a:pathLst>
                <a:path w="3302000" h="1905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836615"/>
                  </a:lnTo>
                  <a:cubicBezTo>
                    <a:pt x="3302000" y="1854752"/>
                    <a:pt x="3294795" y="1872146"/>
                    <a:pt x="3281971" y="1884971"/>
                  </a:cubicBezTo>
                  <a:cubicBezTo>
                    <a:pt x="3269146" y="1897795"/>
                    <a:pt x="3251752" y="1905000"/>
                    <a:pt x="3233615" y="1905000"/>
                  </a:cubicBezTo>
                  <a:lnTo>
                    <a:pt x="68385" y="1905000"/>
                  </a:lnTo>
                  <a:cubicBezTo>
                    <a:pt x="50248" y="1905000"/>
                    <a:pt x="32854" y="1897795"/>
                    <a:pt x="20029" y="1884971"/>
                  </a:cubicBezTo>
                  <a:cubicBezTo>
                    <a:pt x="7205" y="1872146"/>
                    <a:pt x="0" y="1854752"/>
                    <a:pt x="0" y="1836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302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POWER BI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601700" y="4048125"/>
            <a:ext cx="666750" cy="0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4401800" y="3333750"/>
            <a:ext cx="2476500" cy="1428750"/>
            <a:chOff x="0" y="0"/>
            <a:chExt cx="3302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02000" cy="1905000"/>
            </a:xfrm>
            <a:custGeom>
              <a:avLst/>
              <a:gdLst/>
              <a:ahLst/>
              <a:cxnLst/>
              <a:rect l="l" t="t" r="r" b="b"/>
              <a:pathLst>
                <a:path w="3302000" h="1905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836615"/>
                  </a:lnTo>
                  <a:cubicBezTo>
                    <a:pt x="3302000" y="1854752"/>
                    <a:pt x="3294795" y="1872146"/>
                    <a:pt x="3281971" y="1884971"/>
                  </a:cubicBezTo>
                  <a:cubicBezTo>
                    <a:pt x="3269146" y="1897795"/>
                    <a:pt x="3251752" y="1905000"/>
                    <a:pt x="3233615" y="1905000"/>
                  </a:cubicBezTo>
                  <a:lnTo>
                    <a:pt x="68385" y="1905000"/>
                  </a:lnTo>
                  <a:cubicBezTo>
                    <a:pt x="50248" y="1905000"/>
                    <a:pt x="32854" y="1897795"/>
                    <a:pt x="20029" y="1884971"/>
                  </a:cubicBezTo>
                  <a:cubicBezTo>
                    <a:pt x="7205" y="1872146"/>
                    <a:pt x="0" y="1854752"/>
                    <a:pt x="0" y="1836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F24B78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3302000" cy="193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 BEHAVIOR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INSIGHTS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14400" y="2066925"/>
            <a:ext cx="3238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16">
                <a:solidFill>
                  <a:srgbClr val="F24B7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GOAL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00500" y="2019300"/>
            <a:ext cx="118110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Understand purchasing, products, subscriptions, discounts, shipping and repeat-purchase patterns.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400" y="6162675"/>
            <a:ext cx="2095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216">
                <a:solidFill>
                  <a:srgbClr val="F24B7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400" y="6619875"/>
            <a:ext cx="12382500" cy="42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315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Decision-ready metrics and interactive business reporting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14400" y="8096250"/>
            <a:ext cx="16459200" cy="95250"/>
            <a:chOff x="0" y="0"/>
            <a:chExt cx="21945600" cy="127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45600" cy="127000"/>
            </a:xfrm>
            <a:custGeom>
              <a:avLst/>
              <a:gdLst/>
              <a:ahLst/>
              <a:cxnLst/>
              <a:rect l="l" t="t" r="r" b="b"/>
              <a:pathLst>
                <a:path w="21945600" h="127000">
                  <a:moveTo>
                    <a:pt x="0" y="0"/>
                  </a:moveTo>
                  <a:lnTo>
                    <a:pt x="21945600" y="0"/>
                  </a:lnTo>
                  <a:lnTo>
                    <a:pt x="219456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24B78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19456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02  / 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Business Questions Are We Answering?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190750"/>
            <a:ext cx="5048250" cy="2571750"/>
            <a:chOff x="0" y="0"/>
            <a:chExt cx="6731000" cy="3429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731000" cy="3429000"/>
              <a:chOff x="0" y="0"/>
              <a:chExt cx="6731000" cy="3429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73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29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9395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73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31800" y="35242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1800" y="1206500"/>
              <a:ext cx="5969000" cy="75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21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Which customer groups generate the most revenue?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800" y="2190750"/>
            <a:ext cx="5048250" cy="2571750"/>
            <a:chOff x="0" y="0"/>
            <a:chExt cx="6731000" cy="3429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731000" cy="3429000"/>
              <a:chOff x="0" y="0"/>
              <a:chExt cx="6731000" cy="3429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73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29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73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31800" y="35242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1800" y="1206500"/>
              <a:ext cx="5969000" cy="75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21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Which products and categories are ordered most often?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87200" y="2190750"/>
            <a:ext cx="5048250" cy="2571750"/>
            <a:chOff x="0" y="0"/>
            <a:chExt cx="6731000" cy="3429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731000" cy="3429000"/>
              <a:chOff x="0" y="0"/>
              <a:chExt cx="6731000" cy="3429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73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29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73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31800" y="35242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800" y="1206500"/>
              <a:ext cx="5969000" cy="1123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21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does subscription status relate to spending and revenue?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" y="5334000"/>
            <a:ext cx="5048250" cy="2571750"/>
            <a:chOff x="0" y="0"/>
            <a:chExt cx="6731000" cy="3429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31000" cy="3429000"/>
              <a:chOff x="0" y="0"/>
              <a:chExt cx="6731000" cy="3429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3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29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73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31800" y="35242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800" y="1206500"/>
              <a:ext cx="5969000" cy="75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21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does purchasing vary across age groups?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00800" y="5334000"/>
            <a:ext cx="5048250" cy="2571750"/>
            <a:chOff x="0" y="0"/>
            <a:chExt cx="6731000" cy="3429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731000" cy="3429000"/>
              <a:chOff x="0" y="0"/>
              <a:chExt cx="6731000" cy="3429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73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29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73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31800" y="35242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1800" y="1206500"/>
              <a:ext cx="5969000" cy="75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21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is the mix of new, returning and loyal customers?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887200" y="5334000"/>
            <a:ext cx="5048250" cy="2571750"/>
            <a:chOff x="0" y="0"/>
            <a:chExt cx="6731000" cy="3429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731000" cy="3429000"/>
              <a:chOff x="0" y="0"/>
              <a:chExt cx="6731000" cy="3429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73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429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673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31800" y="352425"/>
              <a:ext cx="114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1800" y="1206500"/>
              <a:ext cx="5969000" cy="75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4"/>
                </a:lnSpc>
              </a:pPr>
              <a:r>
                <a:rPr lang="en-US" sz="21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patterns exist around discounts and shipping?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03  /  BUSINESS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Understanding the Dataset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14400" y="2124075"/>
            <a:ext cx="371475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825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3,900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3257550"/>
            <a:ext cx="4095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F24B7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PURCHASE RECORDS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29250" y="2124075"/>
            <a:ext cx="2095500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825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29250" y="3257550"/>
            <a:ext cx="238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F24B7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 COLUMNS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0" y="1952625"/>
            <a:ext cx="3905250" cy="1866900"/>
            <a:chOff x="0" y="0"/>
            <a:chExt cx="5207000" cy="24892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207000" cy="2489200"/>
              <a:chOff x="0" y="0"/>
              <a:chExt cx="5207000" cy="2489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2070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5207000" h="24892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489200"/>
                    </a:lnTo>
                    <a:lnTo>
                      <a:pt x="0" y="24892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207000" cy="2527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55600" y="327025"/>
              <a:ext cx="482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895350"/>
              <a:ext cx="4699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Customer ID • Age • Gender • Location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58750" y="1952625"/>
            <a:ext cx="3905250" cy="1866900"/>
            <a:chOff x="0" y="0"/>
            <a:chExt cx="5207000" cy="24892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207000" cy="2489200"/>
              <a:chOff x="0" y="0"/>
              <a:chExt cx="5207000" cy="2489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2070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5207000" h="24892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489200"/>
                    </a:lnTo>
                    <a:lnTo>
                      <a:pt x="0" y="24892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207000" cy="2527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55600" y="327025"/>
              <a:ext cx="482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PRODUCT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895350"/>
              <a:ext cx="4699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Item Purchased • Category • Size • Color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72500" y="4238625"/>
            <a:ext cx="3905250" cy="1866900"/>
            <a:chOff x="0" y="0"/>
            <a:chExt cx="5207000" cy="24892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207000" cy="2489200"/>
              <a:chOff x="0" y="0"/>
              <a:chExt cx="5207000" cy="2489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2070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5207000" h="24892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489200"/>
                    </a:lnTo>
                    <a:lnTo>
                      <a:pt x="0" y="24892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5207000" cy="2527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55600" y="327025"/>
              <a:ext cx="482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TRANSACTION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0" y="895350"/>
              <a:ext cx="4699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Purchase Amount • Season • Payment Method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58750" y="4238625"/>
            <a:ext cx="3905250" cy="1866900"/>
            <a:chOff x="0" y="0"/>
            <a:chExt cx="5207000" cy="24892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207000" cy="2489200"/>
              <a:chOff x="0" y="0"/>
              <a:chExt cx="5207000" cy="2489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2070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5207000" h="24892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489200"/>
                    </a:lnTo>
                    <a:lnTo>
                      <a:pt x="0" y="24892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207000" cy="2527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55600" y="327025"/>
              <a:ext cx="482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 BEHAVIOR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00" y="895350"/>
              <a:ext cx="4699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Previous Purchases • Purchase Frequency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0" y="6524625"/>
            <a:ext cx="3905250" cy="1866900"/>
            <a:chOff x="0" y="0"/>
            <a:chExt cx="5207000" cy="24892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5207000" cy="2489200"/>
              <a:chOff x="0" y="0"/>
              <a:chExt cx="5207000" cy="2489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52070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5207000" h="24892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489200"/>
                    </a:lnTo>
                    <a:lnTo>
                      <a:pt x="0" y="24892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5207000" cy="2527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55600" y="327025"/>
              <a:ext cx="482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PROMOTION &amp; SHIPPING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5600" y="895350"/>
              <a:ext cx="4699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Discount • Promo Code • Shipping Type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858750" y="6524625"/>
            <a:ext cx="3905250" cy="1866900"/>
            <a:chOff x="0" y="0"/>
            <a:chExt cx="5207000" cy="24892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5207000" cy="2489200"/>
              <a:chOff x="0" y="0"/>
              <a:chExt cx="5207000" cy="2489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207000" cy="2489200"/>
              </a:xfrm>
              <a:custGeom>
                <a:avLst/>
                <a:gdLst/>
                <a:ahLst/>
                <a:cxnLst/>
                <a:rect l="l" t="t" r="r" b="b"/>
                <a:pathLst>
                  <a:path w="5207000" h="24892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489200"/>
                    </a:lnTo>
                    <a:lnTo>
                      <a:pt x="0" y="24892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5207000" cy="2527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355600" y="327025"/>
              <a:ext cx="4826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 + SUBSCRIPTION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5600" y="895350"/>
              <a:ext cx="4699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Rating • Subscription Status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04  / 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Cleaning &amp; Feature Engineering with Python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286000"/>
            <a:ext cx="3038475" cy="3333750"/>
            <a:chOff x="0" y="0"/>
            <a:chExt cx="4051300" cy="4445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937000" cy="4445000"/>
              <a:chOff x="0" y="0"/>
              <a:chExt cx="3937000" cy="4445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37000" cy="4445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445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937000" cy="448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31800" y="555625"/>
              <a:ext cx="36195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  DATA INSPECTION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1800" y="1241425"/>
              <a:ext cx="3619500" cy="1091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Loaded CSV with Pandas; inspected structure and null counts.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3867150" y="3952875"/>
            <a:ext cx="304800" cy="0"/>
          </a:xfrm>
          <a:prstGeom prst="line">
            <a:avLst/>
          </a:prstGeom>
          <a:ln w="28575" cap="flat">
            <a:solidFill>
              <a:srgbClr val="F24B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4229100" y="2286000"/>
            <a:ext cx="3038475" cy="3333750"/>
            <a:chOff x="0" y="0"/>
            <a:chExt cx="4051300" cy="4445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937000" cy="4445000"/>
              <a:chOff x="0" y="0"/>
              <a:chExt cx="3937000" cy="4445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937000" cy="4445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445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937000" cy="448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431800" y="555625"/>
              <a:ext cx="36195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MISSING VALUES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1800" y="1241425"/>
              <a:ext cx="3619500" cy="1091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37 missing review ratings; category-median imputation.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181850" y="3952875"/>
            <a:ext cx="304800" cy="0"/>
          </a:xfrm>
          <a:prstGeom prst="line">
            <a:avLst/>
          </a:prstGeom>
          <a:ln w="28575" cap="flat">
            <a:solidFill>
              <a:srgbClr val="F24B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7543800" y="2286000"/>
            <a:ext cx="3038475" cy="3333750"/>
            <a:chOff x="0" y="0"/>
            <a:chExt cx="4051300" cy="4445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937000" cy="4445000"/>
              <a:chOff x="0" y="0"/>
              <a:chExt cx="3937000" cy="4445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937000" cy="4445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445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3937000" cy="448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31800" y="565150"/>
              <a:ext cx="3619500" cy="30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 spc="228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STANDARDIZATION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1800" y="1241425"/>
              <a:ext cx="3619500" cy="1091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Lowercase snake_case; simplified purchase_amount name.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0496550" y="3952875"/>
            <a:ext cx="304800" cy="0"/>
          </a:xfrm>
          <a:prstGeom prst="line">
            <a:avLst/>
          </a:prstGeom>
          <a:ln w="28575" cap="flat">
            <a:solidFill>
              <a:srgbClr val="F24B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10858500" y="2286000"/>
            <a:ext cx="3038475" cy="3333750"/>
            <a:chOff x="0" y="0"/>
            <a:chExt cx="4051300" cy="4445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937000" cy="4445000"/>
              <a:chOff x="0" y="0"/>
              <a:chExt cx="3937000" cy="4445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937000" cy="4445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445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3937000" cy="448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31800" y="565150"/>
              <a:ext cx="3619500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 spc="192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  FEATURE ENGINEERING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800" y="1241425"/>
              <a:ext cx="3619500" cy="1091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Age quartiles; purchase_frequency_days mapping.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3811250" y="3952875"/>
            <a:ext cx="304800" cy="0"/>
          </a:xfrm>
          <a:prstGeom prst="line">
            <a:avLst/>
          </a:prstGeom>
          <a:ln w="28575" cap="flat">
            <a:solidFill>
              <a:srgbClr val="F24B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14173200" y="2286000"/>
            <a:ext cx="3038475" cy="3333750"/>
            <a:chOff x="0" y="0"/>
            <a:chExt cx="4051300" cy="44450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937000" cy="4445000"/>
              <a:chOff x="0" y="0"/>
              <a:chExt cx="3937000" cy="4445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937000" cy="4445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4445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3937000" cy="448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431800" y="555625"/>
              <a:ext cx="36195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  REDUNDANCY CHECK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800" y="1241425"/>
              <a:ext cx="3619500" cy="1091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Verified discount / promo match; removed promo_code_used.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38250" y="6572250"/>
            <a:ext cx="15811500" cy="1428750"/>
            <a:chOff x="0" y="0"/>
            <a:chExt cx="21082000" cy="19050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1082000" cy="1905000"/>
              <a:chOff x="0" y="0"/>
              <a:chExt cx="21082000" cy="1905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1082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21082000" h="1905000">
                    <a:moveTo>
                      <a:pt x="0" y="0"/>
                    </a:moveTo>
                    <a:lnTo>
                      <a:pt x="21082000" y="0"/>
                    </a:lnTo>
                    <a:lnTo>
                      <a:pt x="21082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24B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21082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762000" y="619125"/>
              <a:ext cx="19558000" cy="554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30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Python transformed the raw CSV into an analysis-ready dataset.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05  /  IMPLEMENTED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Turning Business Questions into SQL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57250" y="2095500"/>
            <a:ext cx="3810000" cy="1619250"/>
            <a:chOff x="0" y="0"/>
            <a:chExt cx="5080000" cy="2159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080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215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54000" y="409575"/>
              <a:ext cx="4826000" cy="602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GROUP BY</a:t>
              </a:r>
            </a:p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Revenue comparisons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53000" y="2095500"/>
            <a:ext cx="3810000" cy="1619250"/>
            <a:chOff x="0" y="0"/>
            <a:chExt cx="5080000" cy="215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080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215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54000" y="409575"/>
              <a:ext cx="4826000" cy="602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SUBQUERIES</a:t>
              </a:r>
            </a:p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Above-average discounts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48750" y="2095500"/>
            <a:ext cx="3810000" cy="1619250"/>
            <a:chOff x="0" y="0"/>
            <a:chExt cx="5080000" cy="2159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080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215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54000" y="409575"/>
              <a:ext cx="4826000" cy="602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CTEs</a:t>
              </a:r>
            </a:p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 segmentation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4191000"/>
            <a:ext cx="3810000" cy="1619250"/>
            <a:chOff x="0" y="0"/>
            <a:chExt cx="5080000" cy="2159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080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215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54000" y="409575"/>
              <a:ext cx="4826000" cy="602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CASE</a:t>
              </a:r>
            </a:p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New / Returning / Loyal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53000" y="4191000"/>
            <a:ext cx="3810000" cy="1619250"/>
            <a:chOff x="0" y="0"/>
            <a:chExt cx="5080000" cy="2159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080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215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4000" y="409575"/>
              <a:ext cx="4826000" cy="602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WINDOW FUNCTIONS</a:t>
              </a:r>
            </a:p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Top 3 by category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48750" y="4191000"/>
            <a:ext cx="3810000" cy="1619250"/>
            <a:chOff x="0" y="0"/>
            <a:chExt cx="5080000" cy="21590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080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2159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254000" y="409575"/>
              <a:ext cx="4826000" cy="602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AGGREGATIONS</a:t>
              </a:r>
            </a:p>
            <a:p>
              <a:pPr algn="l">
                <a:lnSpc>
                  <a:spcPts val="1794"/>
                </a:lnSpc>
              </a:pPr>
              <a:r>
                <a:rPr lang="en-US" sz="1725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Revenue • orders • spend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144500" y="2000250"/>
            <a:ext cx="4191000" cy="3524250"/>
            <a:chOff x="0" y="0"/>
            <a:chExt cx="5588000" cy="4699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5588000" cy="4699000"/>
              <a:chOff x="0" y="0"/>
              <a:chExt cx="5588000" cy="4699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588000" cy="4699000"/>
              </a:xfrm>
              <a:custGeom>
                <a:avLst/>
                <a:gdLst/>
                <a:ahLst/>
                <a:cxnLst/>
                <a:rect l="l" t="t" r="r" b="b"/>
                <a:pathLst>
                  <a:path w="5588000" h="4699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4699000"/>
                    </a:lnTo>
                    <a:lnTo>
                      <a:pt x="0" y="4699000"/>
                    </a:lnTo>
                    <a:close/>
                  </a:path>
                </a:pathLst>
              </a:custGeom>
              <a:solidFill>
                <a:srgbClr val="0D21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5588000" cy="473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508000" y="488950"/>
              <a:ext cx="5080000" cy="2381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SELECT CASE WHEN subscription_status = 'Yes'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THEN 'Subscriber' ELSE 'Non-Subscriber' END AS segment,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COUNT(*) customers, AVG(purchase_amount) avg_spend</a:t>
              </a:r>
            </a:p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FROM customers GROUP BY segment;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144500" y="5905500"/>
            <a:ext cx="4191000" cy="1952625"/>
            <a:chOff x="0" y="0"/>
            <a:chExt cx="5588000" cy="26035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5588000" cy="2603500"/>
              <a:chOff x="0" y="0"/>
              <a:chExt cx="5588000" cy="2603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588000" cy="2603500"/>
              </a:xfrm>
              <a:custGeom>
                <a:avLst/>
                <a:gdLst/>
                <a:ahLst/>
                <a:cxnLst/>
                <a:rect l="l" t="t" r="r" b="b"/>
                <a:pathLst>
                  <a:path w="5588000" h="26035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19395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5588000" cy="264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508000" y="352425"/>
              <a:ext cx="4953000" cy="1410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QA NOTE</a:t>
              </a:r>
            </a:p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Notebook exports customer (singular); queries reference customers (plural). Standardize before execution.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06  /  SQL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Executive KPI Snapshot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190750"/>
            <a:ext cx="5048250" cy="2476500"/>
            <a:chOff x="0" y="0"/>
            <a:chExt cx="6731000" cy="3302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57200" y="762000"/>
              <a:ext cx="5842000" cy="92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48"/>
                </a:lnSpc>
              </a:pPr>
              <a:r>
                <a:rPr lang="en-US" sz="49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3.9K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7200" y="1939925"/>
              <a:ext cx="5715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TOTAL CUSTOMERS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800" y="2190750"/>
            <a:ext cx="5048250" cy="2476500"/>
            <a:chOff x="0" y="0"/>
            <a:chExt cx="6731000" cy="3302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57200" y="762000"/>
              <a:ext cx="5842000" cy="92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48"/>
                </a:lnSpc>
              </a:pPr>
              <a:r>
                <a:rPr lang="en-US" sz="49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$59.76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7200" y="1939925"/>
              <a:ext cx="5715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AVG PURCHASE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87200" y="2190750"/>
            <a:ext cx="5048250" cy="2476500"/>
            <a:chOff x="0" y="0"/>
            <a:chExt cx="6731000" cy="3302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57200" y="762000"/>
              <a:ext cx="5842000" cy="92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48"/>
                </a:lnSpc>
              </a:pPr>
              <a:r>
                <a:rPr lang="en-US" sz="49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3.75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7200" y="1939925"/>
              <a:ext cx="5715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AVG REVIEW RATING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" y="5334000"/>
            <a:ext cx="5048250" cy="2476500"/>
            <a:chOff x="0" y="0"/>
            <a:chExt cx="6731000" cy="3302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24B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57200" y="762000"/>
              <a:ext cx="5842000" cy="92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48"/>
                </a:lnSpc>
              </a:pPr>
              <a:r>
                <a:rPr lang="en-US" sz="49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$233,081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200" y="1939925"/>
              <a:ext cx="5715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 dirty="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TOTAL PURCHASE VALUE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00800" y="5334000"/>
            <a:ext cx="5048250" cy="2476500"/>
            <a:chOff x="0" y="0"/>
            <a:chExt cx="6731000" cy="3302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57200" y="762000"/>
              <a:ext cx="5842000" cy="92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48"/>
                </a:lnSpc>
              </a:pPr>
              <a:r>
                <a:rPr lang="en-US" sz="49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1,053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200" y="1939925"/>
              <a:ext cx="5715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SUBSCRIBERS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887200" y="5334000"/>
            <a:ext cx="5048250" cy="2476500"/>
            <a:chOff x="0" y="0"/>
            <a:chExt cx="6731000" cy="3302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57200" y="762000"/>
              <a:ext cx="5842000" cy="921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48"/>
                </a:lnSpc>
              </a:pPr>
              <a:r>
                <a:rPr lang="en-US" sz="49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2,847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7200" y="1939925"/>
              <a:ext cx="5715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NON-SUBSCRIBERS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07  /  EXECUTIVE SNAPSHOT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Drives Revenue?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33" y="1514013"/>
            <a:ext cx="7332185" cy="659222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25" y="1105079"/>
            <a:ext cx="11753701" cy="7410093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428750" y="7905750"/>
            <a:ext cx="15430500" cy="952500"/>
            <a:chOff x="0" y="0"/>
            <a:chExt cx="20574000" cy="1270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0574000" cy="1270000"/>
              <a:chOff x="0" y="0"/>
              <a:chExt cx="20574000" cy="127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574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0574000" h="12700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9395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0574000" cy="130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08000" y="409575"/>
              <a:ext cx="19558000" cy="426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22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Young Adults lead the four age groups in both revenue and order count.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08  /  OBSERVED COMPARISON — NO CAUSAL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Category-Level Performance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5" y="1272950"/>
            <a:ext cx="9531979" cy="726484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315" y="1532101"/>
            <a:ext cx="6787621" cy="674654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476500" y="8382000"/>
            <a:ext cx="13335000" cy="31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Clothing is the largest category by both revenue and order share.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09  /  CATEGORY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 Segmentation by Purchase History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4" y="1112193"/>
            <a:ext cx="12339031" cy="7967363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2382500" y="2190750"/>
            <a:ext cx="4953000" cy="2857500"/>
            <a:chOff x="0" y="0"/>
            <a:chExt cx="6604000" cy="3810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604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81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24B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35000" y="739775"/>
              <a:ext cx="5334000" cy="1419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00"/>
                </a:lnSpc>
              </a:pPr>
              <a:r>
                <a:rPr lang="en-US" sz="75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79.9%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000" y="2257425"/>
              <a:ext cx="4953000" cy="688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OF CUSTOMERS FALL IN THE LOYAL SEGMENT BY COUNT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58750" y="5981700"/>
            <a:ext cx="3714750" cy="150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Scope note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This analysis identifies segment size. It does not calculate segment revenue or customer lifetime value.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10  /  COUNT-BASED SEGMENTATION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Products Are Customers Ordering?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095500"/>
            <a:ext cx="5048250" cy="6477000"/>
            <a:chOff x="0" y="0"/>
            <a:chExt cx="6731000" cy="8636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731000" cy="8636000"/>
              <a:chOff x="0" y="0"/>
              <a:chExt cx="6731000" cy="8636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731000" cy="8636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8636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731000" cy="867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6731000" cy="101600"/>
              <a:chOff x="0" y="0"/>
              <a:chExt cx="6731000" cy="101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731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1016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61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731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31800" y="352425"/>
              <a:ext cx="584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ORDER VOLUME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800" y="1241425"/>
              <a:ext cx="5842000" cy="4037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ACCESSORIES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Jewelry 171  •  Sunglasses 161  •  Belt 161</a:t>
              </a:r>
            </a:p>
            <a:p>
              <a:pPr algn="l">
                <a:lnSpc>
                  <a:spcPts val="2227"/>
                </a:lnSpc>
              </a:pPr>
              <a:endParaRPr lang="en-US" sz="165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CLOTHING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Pants 171  •  Shirt 169  •  Blouse 158</a:t>
              </a:r>
            </a:p>
            <a:p>
              <a:pPr algn="l">
                <a:lnSpc>
                  <a:spcPts val="2227"/>
                </a:lnSpc>
              </a:pPr>
              <a:endParaRPr lang="en-US" sz="165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FOOTWEAR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Sandals 160  •  Shoes 150  •  Sneakers 145</a:t>
              </a:r>
            </a:p>
            <a:p>
              <a:pPr algn="l">
                <a:lnSpc>
                  <a:spcPts val="2227"/>
                </a:lnSpc>
              </a:pPr>
              <a:endParaRPr lang="en-US" sz="165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OUTERWEAR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Jacket 163  •  Coat 161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00800" y="2095500"/>
            <a:ext cx="5048250" cy="6477000"/>
            <a:chOff x="0" y="0"/>
            <a:chExt cx="6731000" cy="8636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731000" cy="8636000"/>
              <a:chOff x="0" y="0"/>
              <a:chExt cx="6731000" cy="8636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731000" cy="8636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8636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731000" cy="867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6731000" cy="101600"/>
              <a:chOff x="0" y="0"/>
              <a:chExt cx="6731000" cy="101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731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1016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68D6A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731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31800" y="352425"/>
              <a:ext cx="584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HIGHEST AVG RATING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800" y="1231900"/>
              <a:ext cx="5842000" cy="2334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Gloves   3.86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Sandals   3.84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Boots     3.82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Hat       3.80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Skirt     3.78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87200" y="2095500"/>
            <a:ext cx="5048250" cy="6477000"/>
            <a:chOff x="0" y="0"/>
            <a:chExt cx="6731000" cy="8636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31000" cy="8636000"/>
              <a:chOff x="0" y="0"/>
              <a:chExt cx="6731000" cy="8636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31000" cy="8636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8636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731000" cy="867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0"/>
              <a:ext cx="6731000" cy="101600"/>
              <a:chOff x="0" y="0"/>
              <a:chExt cx="6731000" cy="101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731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1016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F24B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731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31800" y="352425"/>
              <a:ext cx="5842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HIGHEST DISCOUNT RATE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800" y="1231900"/>
              <a:ext cx="5842000" cy="2334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Hat        50.00%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Sneakers   49.66%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Coat       49.07%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Sweater    48.17%</a:t>
              </a: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61D7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Pants      47.37%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11  /  VOLUME • QUALITY • PROMOTION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Subscription Behavior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095500"/>
            <a:ext cx="7753350" cy="4762500"/>
            <a:chOff x="0" y="0"/>
            <a:chExt cx="10337800" cy="6350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337800" cy="6350000"/>
              <a:chOff x="0" y="0"/>
              <a:chExt cx="103378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3378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0337800" h="6350000">
                    <a:moveTo>
                      <a:pt x="0" y="0"/>
                    </a:moveTo>
                    <a:lnTo>
                      <a:pt x="10337800" y="0"/>
                    </a:lnTo>
                    <a:lnTo>
                      <a:pt x="103378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3378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152400" cy="6350000"/>
              <a:chOff x="0" y="0"/>
              <a:chExt cx="1524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524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63500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24B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524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58800" y="479425"/>
              <a:ext cx="8255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SUBSCRIBERS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8800" y="1330325"/>
              <a:ext cx="6350000" cy="154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580"/>
                </a:lnSpc>
              </a:pPr>
              <a:r>
                <a:rPr lang="en-US" sz="82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27%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8800" y="3146425"/>
              <a:ext cx="7620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1,053 customers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8800" y="4048125"/>
              <a:ext cx="7620000" cy="524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64"/>
                </a:lnSpc>
              </a:pPr>
              <a:r>
                <a:rPr lang="en-US" sz="28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$62,645 revenue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8800" y="4924425"/>
              <a:ext cx="762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$59.49 avg spend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20250" y="2095500"/>
            <a:ext cx="7753350" cy="4762500"/>
            <a:chOff x="0" y="0"/>
            <a:chExt cx="10337800" cy="6350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337800" cy="6350000"/>
              <a:chOff x="0" y="0"/>
              <a:chExt cx="10337800" cy="635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3378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0337800" h="6350000">
                    <a:moveTo>
                      <a:pt x="0" y="0"/>
                    </a:moveTo>
                    <a:lnTo>
                      <a:pt x="10337800" y="0"/>
                    </a:lnTo>
                    <a:lnTo>
                      <a:pt x="103378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3378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0"/>
              <a:ext cx="152400" cy="6350000"/>
              <a:chOff x="0" y="0"/>
              <a:chExt cx="1524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524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63500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61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524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58800" y="479425"/>
              <a:ext cx="8255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240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NON-SUBSCRIBERS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8800" y="1330325"/>
              <a:ext cx="6350000" cy="154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580"/>
                </a:lnSpc>
              </a:pPr>
              <a:r>
                <a:rPr lang="en-US" sz="82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73%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8800" y="3146425"/>
              <a:ext cx="7620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2,847 customers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8800" y="4048125"/>
              <a:ext cx="7620000" cy="5248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64"/>
                </a:lnSpc>
              </a:pPr>
              <a:r>
                <a:rPr lang="en-US" sz="28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$170,436 revenue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800" y="4924425"/>
              <a:ext cx="762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$59.87 avg spend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905000" y="7886700"/>
            <a:ext cx="14478000" cy="225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4"/>
              </a:lnSpc>
            </a:pPr>
            <a:r>
              <a:rPr lang="en-US" sz="1725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Larger total revenue aligns with the much larger non-subscriber population; average purchase amounts are nearly identical.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12  /  DESCRIPTIVE COMPARISON — NO CAUSAL CLAIM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Does the Analysis Tell Us?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095500"/>
            <a:ext cx="2952750" cy="5619750"/>
            <a:chOff x="0" y="0"/>
            <a:chExt cx="3937000" cy="7493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937000" cy="7493000"/>
              <a:chOff x="0" y="0"/>
              <a:chExt cx="3937000" cy="7493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37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7493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937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55600" y="428625"/>
              <a:ext cx="1270000" cy="613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sz="33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5600" y="1431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CATEGORY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5600" y="2203450"/>
              <a:ext cx="3429000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Clothing leads revenue and order share.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00525" y="2095500"/>
            <a:ext cx="2952750" cy="5619750"/>
            <a:chOff x="0" y="0"/>
            <a:chExt cx="3937000" cy="7493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937000" cy="7493000"/>
              <a:chOff x="0" y="0"/>
              <a:chExt cx="3937000" cy="7493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937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7493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3937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55600" y="428625"/>
              <a:ext cx="1270000" cy="613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sz="33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600" y="1431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 GROUP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00" y="2203450"/>
              <a:ext cx="3429000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Young Adults lead revenue and orders.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86650" y="2095500"/>
            <a:ext cx="2952750" cy="5619750"/>
            <a:chOff x="0" y="0"/>
            <a:chExt cx="3937000" cy="7493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937000" cy="7493000"/>
              <a:chOff x="0" y="0"/>
              <a:chExt cx="3937000" cy="7493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937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7493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3937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55600" y="428625"/>
              <a:ext cx="1270000" cy="613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sz="33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600" y="1431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SUBSCRIPTION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600" y="2203450"/>
              <a:ext cx="3429000" cy="1192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The customer base is predominantly non-subscribed.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772775" y="2095500"/>
            <a:ext cx="2952750" cy="5619750"/>
            <a:chOff x="0" y="0"/>
            <a:chExt cx="3937000" cy="7493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937000" cy="7493000"/>
              <a:chOff x="0" y="0"/>
              <a:chExt cx="3937000" cy="749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937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7493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3937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55600" y="428625"/>
              <a:ext cx="1270000" cy="613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sz="33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600" y="1431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CUSTOMER LOYALTY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00" y="2203450"/>
              <a:ext cx="3429000" cy="1598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Customers with &gt;10 previous purchases form the largest segment by count.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058900" y="2095500"/>
            <a:ext cx="2952750" cy="5619750"/>
            <a:chOff x="0" y="0"/>
            <a:chExt cx="3937000" cy="74930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937000" cy="7493000"/>
              <a:chOff x="0" y="0"/>
              <a:chExt cx="3937000" cy="7493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937000" cy="7493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7493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9395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3937000" cy="753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55600" y="428625"/>
              <a:ext cx="1270000" cy="613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2"/>
                </a:lnSpc>
              </a:pPr>
              <a:r>
                <a:rPr lang="en-US" sz="330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5600" y="1431925"/>
              <a:ext cx="3429000" cy="27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b="1" spc="204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SHIPPING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00" y="2203450"/>
              <a:ext cx="3429000" cy="2005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Express has a modestly higher average purchase amount; causation is not established.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dirty="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13  /  EVIDENCE-BASED TAKEAWAYS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Technical Skills Demonstrated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2190750"/>
            <a:ext cx="3714750" cy="5810250"/>
            <a:chOff x="0" y="0"/>
            <a:chExt cx="4953000" cy="7747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953000" cy="7747000"/>
              <a:chOff x="0" y="0"/>
              <a:chExt cx="4953000" cy="7747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953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774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953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4953000" cy="127000"/>
              <a:chOff x="0" y="0"/>
              <a:chExt cx="4953000" cy="127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953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2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61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953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6400" y="479425"/>
              <a:ext cx="431800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88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PYTHON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00" y="1495425"/>
              <a:ext cx="4318000" cy="1657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Pandas • NumPy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Cleaning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 Engineering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Missing-Value Treatment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29200" y="2190750"/>
            <a:ext cx="3714750" cy="5810250"/>
            <a:chOff x="0" y="0"/>
            <a:chExt cx="4953000" cy="7747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953000" cy="7747000"/>
              <a:chOff x="0" y="0"/>
              <a:chExt cx="4953000" cy="7747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953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774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953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4953000" cy="127000"/>
              <a:chOff x="0" y="0"/>
              <a:chExt cx="4953000" cy="127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953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2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61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4953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06400" y="479425"/>
              <a:ext cx="431800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88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/ MYSQL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00" y="1495425"/>
              <a:ext cx="4318000" cy="1657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GROUP BY • Aggregations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Subqueries • CTEs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CASE Statements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Window Functions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0" y="2190750"/>
            <a:ext cx="3714750" cy="5810250"/>
            <a:chOff x="0" y="0"/>
            <a:chExt cx="4953000" cy="7747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953000" cy="7747000"/>
              <a:chOff x="0" y="0"/>
              <a:chExt cx="4953000" cy="7747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953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774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32D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4953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0"/>
              <a:ext cx="4953000" cy="127000"/>
              <a:chOff x="0" y="0"/>
              <a:chExt cx="4953000" cy="127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953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2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61D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953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06400" y="479425"/>
              <a:ext cx="431800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88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POWER BI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6400" y="1495425"/>
              <a:ext cx="4318000" cy="1657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KPI Design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Slicers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Interactive Dashboards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Business Visualization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258800" y="2190750"/>
            <a:ext cx="3714750" cy="5810250"/>
            <a:chOff x="0" y="0"/>
            <a:chExt cx="4953000" cy="7747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953000" cy="7747000"/>
              <a:chOff x="0" y="0"/>
              <a:chExt cx="4953000" cy="7747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953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774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9395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4953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0"/>
              <a:ext cx="4953000" cy="127000"/>
              <a:chOff x="0" y="0"/>
              <a:chExt cx="4953000" cy="127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953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2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F24B7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4953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06400" y="479425"/>
              <a:ext cx="431800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88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ANALYTICS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6400" y="1495425"/>
              <a:ext cx="4318000" cy="2076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Customer Segmentation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Revenue Analysis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Analysis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Subscription Analysis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A9BDD1"/>
                  </a:solidFill>
                  <a:latin typeface="Open Sans"/>
                  <a:ea typeface="Open Sans"/>
                  <a:cs typeface="Open Sans"/>
                  <a:sym typeface="Open Sans"/>
                </a:rPr>
                <a:t>Customer Behavior Analysis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14400" y="9772650"/>
            <a:ext cx="8572500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dirty="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14  /  TOOLKIT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57275"/>
            <a:chOff x="0" y="0"/>
            <a:chExt cx="21945600" cy="14097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152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216">
                  <a:solidFill>
                    <a:srgbClr val="F24B7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98475"/>
              <a:ext cx="18415000" cy="754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4050" b="1">
                  <a:solidFill>
                    <a:srgbClr val="F5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Data to Decisions</a:t>
              </a: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w="25400" cap="flat">
              <a:solidFill>
                <a:srgbClr val="31506D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000250" y="1952625"/>
            <a:ext cx="5905500" cy="781050"/>
            <a:chOff x="0" y="0"/>
            <a:chExt cx="7874000" cy="1041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74000" cy="1041400"/>
            </a:xfrm>
            <a:custGeom>
              <a:avLst/>
              <a:gdLst/>
              <a:ahLst/>
              <a:cxnLst/>
              <a:rect l="l" t="t" r="r" b="b"/>
              <a:pathLst>
                <a:path w="7874000" h="1041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1012723"/>
                  </a:lnTo>
                  <a:cubicBezTo>
                    <a:pt x="7874000" y="1028561"/>
                    <a:pt x="7861160" y="1041400"/>
                    <a:pt x="7845323" y="1041400"/>
                  </a:cubicBezTo>
                  <a:lnTo>
                    <a:pt x="28677" y="1041400"/>
                  </a:lnTo>
                  <a:cubicBezTo>
                    <a:pt x="12839" y="1041400"/>
                    <a:pt x="0" y="1028561"/>
                    <a:pt x="0" y="1012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874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RAW CUSTOMER DATA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53000" y="2771775"/>
            <a:ext cx="0" cy="314325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000250" y="3143250"/>
            <a:ext cx="5905500" cy="781050"/>
            <a:chOff x="0" y="0"/>
            <a:chExt cx="7874000" cy="1041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74000" cy="1041400"/>
            </a:xfrm>
            <a:custGeom>
              <a:avLst/>
              <a:gdLst/>
              <a:ahLst/>
              <a:cxnLst/>
              <a:rect l="l" t="t" r="r" b="b"/>
              <a:pathLst>
                <a:path w="7874000" h="1041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1012723"/>
                  </a:lnTo>
                  <a:cubicBezTo>
                    <a:pt x="7874000" y="1028561"/>
                    <a:pt x="7861160" y="1041400"/>
                    <a:pt x="7845323" y="1041400"/>
                  </a:cubicBezTo>
                  <a:lnTo>
                    <a:pt x="28677" y="1041400"/>
                  </a:lnTo>
                  <a:cubicBezTo>
                    <a:pt x="12839" y="1041400"/>
                    <a:pt x="0" y="1028561"/>
                    <a:pt x="0" y="1012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7874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PYTHON DATA PREPARATION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4953000" y="3962400"/>
            <a:ext cx="0" cy="314325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2000250" y="4333875"/>
            <a:ext cx="5905500" cy="781050"/>
            <a:chOff x="0" y="0"/>
            <a:chExt cx="7874000" cy="1041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74000" cy="1041400"/>
            </a:xfrm>
            <a:custGeom>
              <a:avLst/>
              <a:gdLst/>
              <a:ahLst/>
              <a:cxnLst/>
              <a:rect l="l" t="t" r="r" b="b"/>
              <a:pathLst>
                <a:path w="7874000" h="1041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1012723"/>
                  </a:lnTo>
                  <a:cubicBezTo>
                    <a:pt x="7874000" y="1028561"/>
                    <a:pt x="7861160" y="1041400"/>
                    <a:pt x="7845323" y="1041400"/>
                  </a:cubicBezTo>
                  <a:lnTo>
                    <a:pt x="28677" y="1041400"/>
                  </a:lnTo>
                  <a:cubicBezTo>
                    <a:pt x="12839" y="1041400"/>
                    <a:pt x="0" y="1028561"/>
                    <a:pt x="0" y="1012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874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BUSINESS ANALYSIS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4953000" y="5153025"/>
            <a:ext cx="0" cy="314325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2000250" y="5524500"/>
            <a:ext cx="5905500" cy="781050"/>
            <a:chOff x="0" y="0"/>
            <a:chExt cx="7874000" cy="1041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874000" cy="1041400"/>
            </a:xfrm>
            <a:custGeom>
              <a:avLst/>
              <a:gdLst/>
              <a:ahLst/>
              <a:cxnLst/>
              <a:rect l="l" t="t" r="r" b="b"/>
              <a:pathLst>
                <a:path w="7874000" h="1041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1012723"/>
                  </a:lnTo>
                  <a:cubicBezTo>
                    <a:pt x="7874000" y="1028561"/>
                    <a:pt x="7861160" y="1041400"/>
                    <a:pt x="7845323" y="1041400"/>
                  </a:cubicBezTo>
                  <a:lnTo>
                    <a:pt x="28677" y="1041400"/>
                  </a:lnTo>
                  <a:cubicBezTo>
                    <a:pt x="12839" y="1041400"/>
                    <a:pt x="0" y="1028561"/>
                    <a:pt x="0" y="1012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193955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7874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POWER BI VISUALIZATION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4953000" y="6343650"/>
            <a:ext cx="0" cy="314325"/>
          </a:xfrm>
          <a:prstGeom prst="line">
            <a:avLst/>
          </a:prstGeom>
          <a:ln w="38100" cap="flat">
            <a:solidFill>
              <a:srgbClr val="61D7E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2000250" y="6715125"/>
            <a:ext cx="5905500" cy="781050"/>
            <a:chOff x="0" y="0"/>
            <a:chExt cx="7874000" cy="1041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874000" cy="1041400"/>
            </a:xfrm>
            <a:custGeom>
              <a:avLst/>
              <a:gdLst/>
              <a:ahLst/>
              <a:cxnLst/>
              <a:rect l="l" t="t" r="r" b="b"/>
              <a:pathLst>
                <a:path w="7874000" h="10414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1012723"/>
                  </a:lnTo>
                  <a:cubicBezTo>
                    <a:pt x="7874000" y="1028561"/>
                    <a:pt x="7861160" y="1041400"/>
                    <a:pt x="7845323" y="1041400"/>
                  </a:cubicBezTo>
                  <a:lnTo>
                    <a:pt x="28677" y="1041400"/>
                  </a:lnTo>
                  <a:cubicBezTo>
                    <a:pt x="12839" y="1041400"/>
                    <a:pt x="0" y="1028561"/>
                    <a:pt x="0" y="10127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F24B78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78740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5F8F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 INSIGHTS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39250" y="2190750"/>
            <a:ext cx="76200" cy="5429250"/>
            <a:chOff x="0" y="0"/>
            <a:chExt cx="101600" cy="7239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" cy="7239000"/>
            </a:xfrm>
            <a:custGeom>
              <a:avLst/>
              <a:gdLst/>
              <a:ahLst/>
              <a:cxnLst/>
              <a:rect l="l" t="t" r="r" b="b"/>
              <a:pathLst>
                <a:path w="101600" h="7239000">
                  <a:moveTo>
                    <a:pt x="0" y="0"/>
                  </a:moveTo>
                  <a:lnTo>
                    <a:pt x="101600" y="0"/>
                  </a:lnTo>
                  <a:lnTo>
                    <a:pt x="1016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F24B78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16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06000" y="2619375"/>
            <a:ext cx="6667500" cy="259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3300" b="1">
                <a:solidFill>
                  <a:srgbClr val="F5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 end-to-end customer analytics project demonstrating how raw retail data can be transformed into structured, decision-ready business insights.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06000" y="7400925"/>
            <a:ext cx="6667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40">
                <a:solidFill>
                  <a:srgbClr val="F24B7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    |    LINKEDIN    |    PORTFOLIO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" y="9835254"/>
            <a:ext cx="8572500" cy="19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 dirty="0">
                <a:solidFill>
                  <a:srgbClr val="A9BDD1"/>
                </a:solidFill>
                <a:latin typeface="Open Sans"/>
                <a:ea typeface="Open Sans"/>
                <a:cs typeface="Open Sans"/>
                <a:sym typeface="Open Sans"/>
              </a:rPr>
              <a:t>15  /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824</Words>
  <Application>Microsoft Office PowerPoint</Application>
  <PresentationFormat>Custom</PresentationFormat>
  <Paragraphs>215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Montserrat Bold</vt:lpstr>
      <vt:lpstr>Open Sans</vt:lpstr>
      <vt:lpstr>IBM Plex Mono</vt:lpstr>
      <vt:lpstr>Arial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Analysis</dc:title>
  <dc:creator>Keshav Verma</dc:creator>
  <cp:lastModifiedBy>Keshav Verma</cp:lastModifiedBy>
  <cp:revision>2</cp:revision>
  <dcterms:created xsi:type="dcterms:W3CDTF">2006-08-16T00:00:00Z</dcterms:created>
  <dcterms:modified xsi:type="dcterms:W3CDTF">2026-09-17T10:31:35Z</dcterms:modified>
  <dc:identifier>DAHVcp-gpnA</dc:identifier>
</cp:coreProperties>
</file>